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68C55"/>
          </a:solidFill>
          <a:ln>
            <a:solidFill>
              <a:srgbClr val="468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228600" cy="685800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102A4D"/>
          </a:solidFill>
          <a:ln w="1905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KONGU ENGINEERING COLLEGE</a:t>
            </a:r>
          </a:p>
          <a:p>
            <a:pPr algn="ctr">
              <a:defRPr sz="1300" b="1">
                <a:solidFill>
                  <a:srgbClr val="00ACC1"/>
                </a:solidFill>
              </a:defRPr>
            </a:pPr>
            <a:r>
              <a:t>Department of Computer Science &amp; Engineering  |  Perundurai, Erode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2286000"/>
          </a:xfrm>
          <a:prstGeom prst="roundRect">
            <a:avLst/>
          </a:prstGeom>
          <a:solidFill>
            <a:srgbClr val="102A4D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ACC1"/>
                </a:solidFill>
              </a:defRPr>
            </a:pPr>
            <a:r>
              <a:t>DERMAVISION AI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AI-Powered Skin Disease Screening &amp; Doctor Consultation Platform</a:t>
            </a:r>
          </a:p>
          <a:p>
            <a:br/>
            <a:pPr algn="ctr">
              <a:defRPr sz="1600" b="1">
                <a:solidFill>
                  <a:srgbClr val="468C55"/>
                </a:solidFill>
              </a:defRPr>
            </a:pPr>
            <a:r>
              <a:t>"SCAN  ➔  UNDERSTAND  ➔  BOOK  ➔  CONSULT"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12080" cy="2377440"/>
          </a:xfrm>
          <a:prstGeom prst="roundRect">
            <a:avLst/>
          </a:prstGeom>
          <a:solidFill>
            <a:srgbClr val="102A4D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ACC1"/>
                </a:solidFill>
              </a:defRPr>
            </a:pPr>
            <a:r>
              <a:t>TEAM INFORMATION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Team No: BYTEPRENEURS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Project Guide: Department Faculty Guide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Date: 20 August 2026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Members: Yogesh (Lead), Member 2, Member 3, Member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4023360"/>
            <a:ext cx="5212080" cy="2377440"/>
          </a:xfrm>
          <a:prstGeom prst="roundRect">
            <a:avLst/>
          </a:prstGeom>
          <a:solidFill>
            <a:srgbClr val="102A4D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ACC1"/>
                </a:solidFill>
              </a:defRPr>
            </a:pPr>
            <a:r>
              <a:t>UN SUSTAINABLE DEVELOPMENT GOALS</a:t>
            </a:r>
          </a:p>
          <a:p>
            <a:br/>
            <a:pPr>
              <a:defRPr sz="1300" b="1">
                <a:solidFill>
                  <a:srgbClr val="468C55"/>
                </a:solidFill>
              </a:defRPr>
            </a:pPr>
            <a:r>
              <a:t>🎯 SDG 3 — Good Health &amp; Well-Being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Early skin condition awareness &amp; accessible screening</a:t>
            </a:r>
          </a:p>
          <a:p>
            <a:br/>
            <a:pPr>
              <a:defRPr sz="1300" b="1">
                <a:solidFill>
                  <a:srgbClr val="468C55"/>
                </a:solidFill>
              </a:defRPr>
            </a:pPr>
            <a:r>
              <a:t>🎯 SDG 9 — Industry, Innovation &amp; Infrastructure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AI-assisted deep learning healthcare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Problem Identification &amp; Clinical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KONGU ENGINEERING COLLEGE  |  Department of Computer Science &amp; Engineering  |  Team BYTEPRENEURS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447288" cy="347472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76D2"/>
                </a:solidFill>
              </a:defRPr>
            </a:pPr>
            <a:r>
              <a:t>CARD 1: LIMITED ACCESS</a:t>
            </a:r>
          </a:p>
          <a:p>
            <a:pPr>
              <a:defRPr sz="1200" b="1">
                <a:solidFill>
                  <a:srgbClr val="263238"/>
                </a:solidFill>
              </a:defRPr>
            </a:pPr>
            <a:r>
              <a:t>Primary Healthcare Gap</a:t>
            </a:r>
          </a:p>
          <a:p/>
          <a:p>
            <a:pPr>
              <a:defRPr sz="1200">
                <a:solidFill>
                  <a:srgbClr val="263238"/>
                </a:solidFill>
              </a:defRPr>
            </a:pPr>
            <a:r>
              <a:t>• Many users cannot immediately consult a dermatologist.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Severe shortage of dermatologists in rural regions.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Long waiting times for clinical appointments.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280160"/>
            <a:ext cx="3447288" cy="34747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A580C"/>
                </a:solidFill>
              </a:defRPr>
            </a:pPr>
            <a:r>
              <a:t>CARD 2: UNCERTAINTY</a:t>
            </a:r>
          </a:p>
          <a:p>
            <a:pPr>
              <a:defRPr sz="1200" b="1">
                <a:solidFill>
                  <a:srgbClr val="263238"/>
                </a:solidFill>
              </a:defRPr>
            </a:pPr>
            <a:r>
              <a:t>Patient Anxiety &amp; Confusion</a:t>
            </a:r>
          </a:p>
          <a:p/>
          <a:p>
            <a:pPr>
              <a:defRPr sz="1200">
                <a:solidFill>
                  <a:srgbClr val="263238"/>
                </a:solidFill>
              </a:defRPr>
            </a:pPr>
            <a:r>
              <a:t>• Users are unsure if a skin lesion requires urgent care.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Self-diagnosis via search engines leads to panic.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Lack of immediate condition awareness.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280160"/>
            <a:ext cx="3447288" cy="34747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DC2626"/>
                </a:solidFill>
              </a:defRPr>
            </a:pPr>
            <a:r>
              <a:t>CARD 3: DELAYED CONSULT</a:t>
            </a:r>
          </a:p>
          <a:p>
            <a:pPr>
              <a:defRPr sz="1200" b="1">
                <a:solidFill>
                  <a:srgbClr val="263238"/>
                </a:solidFill>
              </a:defRPr>
            </a:pPr>
            <a:r>
              <a:t>Health Risk Escalation</a:t>
            </a:r>
          </a:p>
          <a:p/>
          <a:p>
            <a:pPr>
              <a:defRPr sz="1200">
                <a:solidFill>
                  <a:srgbClr val="263238"/>
                </a:solidFill>
              </a:defRPr>
            </a:pPr>
            <a:r>
              <a:t>• Hesitation &amp; geographical barriers cause delays.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Delayed evaluation of progressive skin diseases.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Disconnect between self-check and doctor consult.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10728655" cy="128016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ACC1"/>
                </a:solidFill>
              </a:defRPr>
            </a:pPr>
            <a:r>
              <a:t>CURRENT HEALTHCARE BOTTLENECK WORKFLOW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Notice Skin Concern   ➔   Uncertainty &amp; Anxiety   ➔   Limited Local Access   ➔   Delayed Professional Consult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Proposed Solution &amp; 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KONGU ENGINEERING COLLEGE  |  Department of Computer Science &amp; Engineering  |  Team BYTEPRENEURS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4754880" cy="484632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ACC1"/>
                </a:solidFill>
              </a:defRPr>
            </a:pPr>
            <a:r>
              <a:t>DERMAVISION AI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Unified Tele-Dermatology Platform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DermaVision AI combines deep-learning skin image screening, dynamic report generation, patient history, appointment scheduling, and doctor tele-consultation in one continuous workflow.</a:t>
            </a:r>
          </a:p>
          <a:p>
            <a:br/>
            <a:pPr>
              <a:defRPr b="1" sz="1300">
                <a:solidFill>
                  <a:srgbClr val="468C55"/>
                </a:solidFill>
              </a:defRPr>
            </a:pPr>
            <a:r>
              <a:t>Key Paradigm: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AI Screening Assist (Not a diagnosis)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153 Trained Skin Condition Classes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Direct Doctor Tele-Health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280160"/>
            <a:ext cx="2651760" cy="146304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76D2"/>
                </a:solidFill>
              </a:defRPr>
            </a:pPr>
            <a:r>
              <a:t>1. Image Capture / Upload</a:t>
            </a:r>
          </a:p>
          <a:p>
            <a:pPr>
              <a:defRPr sz="1100">
                <a:solidFill>
                  <a:srgbClr val="263238"/>
                </a:solidFill>
              </a:defRPr>
            </a:pPr>
            <a:r>
              <a:t>Camera &amp; file image input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280160"/>
            <a:ext cx="2651760" cy="146304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2. AI Model Inference</a:t>
            </a:r>
          </a:p>
          <a:p>
            <a:pPr>
              <a:defRPr sz="1100">
                <a:solidFill>
                  <a:srgbClr val="263238"/>
                </a:solidFill>
              </a:defRPr>
            </a:pPr>
            <a:r>
              <a:t>PyTorch deep-learning feature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2926080"/>
            <a:ext cx="2651760" cy="146304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ACC1"/>
                </a:solidFill>
              </a:defRPr>
            </a:pPr>
            <a:r>
              <a:t>3. Confidence Evaluation</a:t>
            </a:r>
          </a:p>
          <a:p>
            <a:pPr>
              <a:defRPr sz="1100">
                <a:solidFill>
                  <a:srgbClr val="263238"/>
                </a:solidFill>
              </a:defRPr>
            </a:pPr>
            <a:r>
              <a:t>Softmax probability distribution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2926080"/>
            <a:ext cx="2651760" cy="146304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897B"/>
                </a:solidFill>
              </a:defRPr>
            </a:pPr>
            <a:r>
              <a:t>4. Condition Reports</a:t>
            </a:r>
          </a:p>
          <a:p>
            <a:pPr>
              <a:defRPr sz="1100">
                <a:solidFill>
                  <a:srgbClr val="263238"/>
                </a:solidFill>
              </a:defRPr>
            </a:pPr>
            <a:r>
              <a:t>Dynamic disease-specific clinical advice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572000"/>
            <a:ext cx="2651760" cy="146304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468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68C55"/>
                </a:solidFill>
              </a:defRPr>
            </a:pPr>
            <a:r>
              <a:t>5. Normal Skin Detection</a:t>
            </a:r>
          </a:p>
          <a:p>
            <a:pPr>
              <a:defRPr sz="1100">
                <a:solidFill>
                  <a:srgbClr val="263238"/>
                </a:solidFill>
              </a:defRPr>
            </a:pPr>
            <a:r>
              <a:t>Trained Class 101 healthy skin recognition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4572000"/>
            <a:ext cx="2651760" cy="146304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6. Doctor Tele-Consult</a:t>
            </a:r>
          </a:p>
          <a:p>
            <a:pPr>
              <a:defRPr sz="1100">
                <a:solidFill>
                  <a:srgbClr val="263238"/>
                </a:solidFill>
              </a:defRPr>
            </a:pPr>
            <a:r>
              <a:t>Scheduled appointments &amp; real Google Meet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Innovation &amp; Real-World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KONGU ENGINEERING COLLEGE  |  Department of Computer Science &amp; Engineering  |  Team BYTEPRENEURS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447288" cy="3474720"/>
          </a:xfrm>
          <a:prstGeom prst="roundRect">
            <a:avLst/>
          </a:prstGeom>
          <a:solidFill>
            <a:srgbClr val="F0F7FF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76D2"/>
                </a:solidFill>
              </a:defRPr>
            </a:pPr>
            <a:r>
              <a:t>01. AI-ASSISTED SCREENING</a:t>
            </a:r>
          </a:p>
          <a:p>
            <a:pPr>
              <a:defRPr sz="1300" b="1">
                <a:solidFill>
                  <a:srgbClr val="263238"/>
                </a:solidFill>
              </a:defRPr>
            </a:pPr>
            <a:r>
              <a:t>Unified Screening Workflow</a:t>
            </a:r>
          </a:p>
          <a:p>
            <a:br/>
            <a:pPr>
              <a:defRPr sz="1200">
                <a:solidFill>
                  <a:srgbClr val="263238"/>
                </a:solidFill>
              </a:defRPr>
            </a:pPr>
            <a:r>
              <a:t>Combines multi-class deep learning image analysis, quality validation, and condition risk assessment in a single request.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280160"/>
            <a:ext cx="3447288" cy="3474720"/>
          </a:xfrm>
          <a:prstGeom prst="roundRect">
            <a:avLst/>
          </a:prstGeom>
          <a:solidFill>
            <a:srgbClr val="F0F7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7C3AED"/>
                </a:solidFill>
              </a:defRPr>
            </a:pPr>
            <a:r>
              <a:t>02. DISEASE-SPECIFIC REPORT</a:t>
            </a:r>
          </a:p>
          <a:p>
            <a:pPr>
              <a:defRPr sz="1300" b="1">
                <a:solidFill>
                  <a:srgbClr val="263238"/>
                </a:solidFill>
              </a:defRPr>
            </a:pPr>
            <a:r>
              <a:t>Beyond Raw Predictions</a:t>
            </a:r>
          </a:p>
          <a:p>
            <a:br/>
            <a:pPr>
              <a:defRPr sz="1200">
                <a:solidFill>
                  <a:srgbClr val="263238"/>
                </a:solidFill>
              </a:defRPr>
            </a:pPr>
            <a:r>
              <a:t>Generates custom clinical guidance, symptoms, and care steps instead of presenting confusing raw AI numbers.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280160"/>
            <a:ext cx="3447288" cy="3474720"/>
          </a:xfrm>
          <a:prstGeom prst="roundRect">
            <a:avLst/>
          </a:prstGeom>
          <a:solidFill>
            <a:srgbClr val="F0F7FF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897B"/>
                </a:solidFill>
              </a:defRPr>
            </a:pPr>
            <a:r>
              <a:t>03. DOCTOR CONSULTATION</a:t>
            </a:r>
          </a:p>
          <a:p>
            <a:pPr>
              <a:defRPr sz="1300" b="1">
                <a:solidFill>
                  <a:srgbClr val="263238"/>
                </a:solidFill>
              </a:defRPr>
            </a:pPr>
            <a:r>
              <a:t>End-to-End Care Continuity</a:t>
            </a:r>
          </a:p>
          <a:p>
            <a:br/>
            <a:pPr>
              <a:defRPr sz="1200">
                <a:solidFill>
                  <a:srgbClr val="263238"/>
                </a:solidFill>
              </a:defRPr>
            </a:pPr>
            <a:r>
              <a:t>Bridges the gap between AI screening and clinical care by allowing direct appointment booking with dermatologists.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10728655" cy="1280160"/>
          </a:xfrm>
          <a:prstGeom prst="roundRect">
            <a:avLst/>
          </a:prstGeom>
          <a:solidFill>
            <a:srgbClr val="0B1F3A"/>
          </a:solidFill>
          <a:ln w="1905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ACC1"/>
                </a:solidFill>
              </a:defRPr>
            </a:pPr>
            <a:r>
              <a:t>DERMAVISION CONTINUOUS VALUE PATHWAY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IMAGE   ➔   AI MODEL   ➔   REPORT   ➔   APPOINTMENT   ➔   DOCTOR CONSULT</a:t>
            </a:r>
          </a:p>
          <a:p>
            <a:pPr algn="ctr">
              <a:defRPr sz="1200" b="1">
                <a:solidFill>
                  <a:srgbClr val="468C55"/>
                </a:solidFill>
              </a:defRPr>
            </a:pPr>
            <a:r>
              <a:t>"Beyond prediction — an end-to-end screening-to-consultation workflow."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Complete End-to-End System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KONGU ENGINEERING COLLEGE  |  Department of Computer Science &amp; Engineering  |  Team BYTEPRENEURS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5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011680" cy="146304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76D2"/>
                </a:solidFill>
              </a:defRPr>
            </a:pPr>
            <a:r>
              <a:t>1. Patient Login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280160"/>
            <a:ext cx="2011680" cy="146304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76D2"/>
                </a:solidFill>
              </a:defRPr>
            </a:pPr>
            <a:r>
              <a:t>2. Capture 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280160"/>
            <a:ext cx="2011680" cy="146304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76D2"/>
                </a:solidFill>
              </a:defRPr>
            </a:pPr>
            <a:r>
              <a:t>3. Quality 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1280160"/>
            <a:ext cx="2011680" cy="146304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76D2"/>
                </a:solidFill>
              </a:defRPr>
            </a:pPr>
            <a:r>
              <a:t>4. Image Preprocess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36608" y="1280160"/>
            <a:ext cx="2011680" cy="146304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76D2"/>
                </a:solidFill>
              </a:defRPr>
            </a:pPr>
            <a:r>
              <a:t>5. PyTorch AI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2011680" cy="14630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897B"/>
                </a:solidFill>
              </a:defRPr>
            </a:pPr>
            <a:r>
              <a:t>6. Softmax Probabilities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7791" y="3108960"/>
            <a:ext cx="2011680" cy="14630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897B"/>
                </a:solidFill>
              </a:defRPr>
            </a:pPr>
            <a:r>
              <a:t>7. Dynamic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3108960"/>
            <a:ext cx="2011680" cy="14630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897B"/>
                </a:solidFill>
              </a:defRPr>
            </a:pPr>
            <a:r>
              <a:t>8. Book Appointment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3108960"/>
            <a:ext cx="2011680" cy="14630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897B"/>
                </a:solidFill>
              </a:defRPr>
            </a:pPr>
            <a:r>
              <a:t>9. Doctor 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36608" y="3108960"/>
            <a:ext cx="2011680" cy="14630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897B"/>
                </a:solidFill>
              </a:defRPr>
            </a:pPr>
            <a:r>
              <a:t>10. Google Meet Call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ACC1"/>
                </a:solidFill>
              </a:defRPr>
            </a:pPr>
            <a:r>
              <a:t>INTEGRATED THREE-TIER ARCHITECTURE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PATIENT PORTAL (React / TS)   ◄─────►   BACKEND API &amp; FIREBASE   ◄─────►   DOCTOR PORTAL (React)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AI Model &amp; Machine Learning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KONGU ENGINEERING COLLEGE  |  Department of Computer Science &amp; Engineering  |  Team BYTEPRENEURS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6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542032" cy="173736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1. IMAGE</a:t>
            </a:r>
          </a:p>
          <a:p>
            <a:pPr>
              <a:defRPr sz="1200" b="1">
                <a:solidFill>
                  <a:srgbClr val="263238"/>
                </a:solidFill>
              </a:defRPr>
            </a:pPr>
            <a:r>
              <a:t>Skin Lesion Photo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"Captures input image."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280160"/>
            <a:ext cx="2542032" cy="173736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2. PREPROCESS</a:t>
            </a:r>
          </a:p>
          <a:p>
            <a:pPr>
              <a:defRPr sz="1200" b="1">
                <a:solidFill>
                  <a:srgbClr val="263238"/>
                </a:solidFill>
              </a:defRPr>
            </a:pPr>
            <a:r>
              <a:t>Resize &amp; Normalize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"224x224 &amp; ImageNet std."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280160"/>
            <a:ext cx="2542032" cy="173736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3. EFFICIENTNET</a:t>
            </a:r>
          </a:p>
          <a:p>
            <a:pPr>
              <a:defRPr sz="1200" b="1">
                <a:solidFill>
                  <a:srgbClr val="263238"/>
                </a:solidFill>
              </a:defRPr>
            </a:pPr>
            <a:r>
              <a:t>Feature Extraction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"PyTorch deep neural net."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280160"/>
            <a:ext cx="2542032" cy="173736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4. SOFTMAX</a:t>
            </a:r>
          </a:p>
          <a:p>
            <a:pPr>
              <a:defRPr sz="1200" b="1">
                <a:solidFill>
                  <a:srgbClr val="263238"/>
                </a:solidFill>
              </a:defRPr>
            </a:pPr>
            <a:r>
              <a:t>Class Probabilities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"Distribution over 153 classes."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2542032" cy="173736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5. 153 CLASSES</a:t>
            </a:r>
          </a:p>
          <a:p>
            <a:pPr>
              <a:defRPr sz="1200" b="1">
                <a:solidFill>
                  <a:srgbClr val="263238"/>
                </a:solidFill>
              </a:defRPr>
            </a:pPr>
            <a:r>
              <a:t>Disease Indexing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"Includes Class 101 Healthy."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3291840"/>
            <a:ext cx="2542032" cy="173736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6. PREDICTION</a:t>
            </a:r>
          </a:p>
          <a:p>
            <a:pPr>
              <a:defRPr sz="1200" b="1">
                <a:solidFill>
                  <a:srgbClr val="263238"/>
                </a:solidFill>
              </a:defRPr>
            </a:pPr>
            <a:r>
              <a:t>Top Class Selection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"Highest validated score."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291840"/>
            <a:ext cx="2542032" cy="173736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7. CONFIDENCE</a:t>
            </a:r>
          </a:p>
          <a:p>
            <a:pPr>
              <a:defRPr sz="1200" b="1">
                <a:solidFill>
                  <a:srgbClr val="263238"/>
                </a:solidFill>
              </a:defRPr>
            </a:pPr>
            <a:r>
              <a:t>Score Calculation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"Assesses prediction strength."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3291840"/>
            <a:ext cx="2542032" cy="173736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8. AI REPORT</a:t>
            </a:r>
          </a:p>
          <a:p>
            <a:pPr>
              <a:defRPr sz="1200" b="1">
                <a:solidFill>
                  <a:srgbClr val="263238"/>
                </a:solidFill>
              </a:defRPr>
            </a:pPr>
            <a:r>
              <a:t>Dynamic Content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"Condition-specific output."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03520"/>
            <a:ext cx="10728655" cy="914400"/>
          </a:xfrm>
          <a:prstGeom prst="roundRect">
            <a:avLst/>
          </a:prstGeom>
          <a:solidFill>
            <a:srgbClr val="0B1F3A"/>
          </a:solidFill>
          <a:ln w="1905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ACC1"/>
                </a:solidFill>
              </a:defRPr>
            </a:pPr>
            <a:r>
              <a:t>ACTUAL MODEL TECHNICAL SPECIFICATION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Backbone: PyTorch EfficientNet-B0 / ResNet50  • Weights: trained_skin_model.pth  • Input: 224x224x3 RGB  • Healthy Class: Index 101 ('Normal / Healthy Skin (Benign Feature)')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Prototype Design &amp; User Interfaces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KONGU ENGINEERING COLLEGE  |  Department of Computer Science &amp; Engineering  |  Team BYTEPRENEURS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447288" cy="228600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76D2"/>
                </a:solidFill>
              </a:defRPr>
            </a:pPr>
            <a:r>
              <a:t>1. PATIENT HOME PAGE</a:t>
            </a:r>
          </a:p>
          <a:p>
            <a:pPr>
              <a:defRPr sz="1200" b="1">
                <a:solidFill>
                  <a:srgbClr val="263238"/>
                </a:solidFill>
              </a:defRPr>
            </a:pPr>
            <a:r>
              <a:t>User Landing Interface</a:t>
            </a:r>
          </a:p>
          <a:p>
            <a:br/>
            <a:pPr>
              <a:defRPr sz="1100">
                <a:solidFill>
                  <a:srgbClr val="64748B"/>
                </a:solidFill>
              </a:defRPr>
            </a:pPr>
            <a:r>
              <a:t>[ Live System UI View ]</a:t>
            </a:r>
            <a:br/>
            <a:r>
              <a:t>Authentication, quick scanner launcher, and disease knowledge explorer.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280160"/>
            <a:ext cx="3447288" cy="228600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76D2"/>
                </a:solidFill>
              </a:defRPr>
            </a:pPr>
            <a:r>
              <a:t>2. SKIN SCANNER INTERFACE</a:t>
            </a:r>
          </a:p>
          <a:p>
            <a:pPr>
              <a:defRPr sz="1200" b="1">
                <a:solidFill>
                  <a:srgbClr val="263238"/>
                </a:solidFill>
              </a:defRPr>
            </a:pPr>
            <a:r>
              <a:t>AI Processing Module</a:t>
            </a:r>
          </a:p>
          <a:p>
            <a:br/>
            <a:pPr>
              <a:defRPr sz="1100">
                <a:solidFill>
                  <a:srgbClr val="64748B"/>
                </a:solidFill>
              </a:defRPr>
            </a:pPr>
            <a:r>
              <a:t>[ Live System UI View ]</a:t>
            </a:r>
            <a:br/>
            <a:r>
              <a:t>Image capture/upload with live blur, brightness, and focus quality checks.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280160"/>
            <a:ext cx="3447288" cy="228600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76D2"/>
                </a:solidFill>
              </a:defRPr>
            </a:pPr>
            <a:r>
              <a:t>3. AI CLINICAL REPORT</a:t>
            </a:r>
          </a:p>
          <a:p>
            <a:pPr>
              <a:defRPr sz="1200" b="1">
                <a:solidFill>
                  <a:srgbClr val="263238"/>
                </a:solidFill>
              </a:defRPr>
            </a:pPr>
            <a:r>
              <a:t>Dynamic Screening Output</a:t>
            </a:r>
          </a:p>
          <a:p>
            <a:br/>
            <a:pPr>
              <a:defRPr sz="1100">
                <a:solidFill>
                  <a:srgbClr val="64748B"/>
                </a:solidFill>
              </a:defRPr>
            </a:pPr>
            <a:r>
              <a:t>[ Live System UI View ]</a:t>
            </a:r>
            <a:br/>
            <a:r>
              <a:t>100% model-driven diagnosis title, confidence score, and clinical advice.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3447288" cy="228600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76D2"/>
                </a:solidFill>
              </a:defRPr>
            </a:pPr>
            <a:r>
              <a:t>4. PATIENT APPOINTMENTS</a:t>
            </a:r>
          </a:p>
          <a:p>
            <a:pPr>
              <a:defRPr sz="1200" b="1">
                <a:solidFill>
                  <a:srgbClr val="263238"/>
                </a:solidFill>
              </a:defRPr>
            </a:pPr>
            <a:r>
              <a:t>Consultation Schedule</a:t>
            </a:r>
          </a:p>
          <a:p>
            <a:br/>
            <a:pPr>
              <a:defRPr sz="1100">
                <a:solidFill>
                  <a:srgbClr val="64748B"/>
                </a:solidFill>
              </a:defRPr>
            </a:pPr>
            <a:r>
              <a:t>[ Live System UI View ]</a:t>
            </a:r>
            <a:br/>
            <a:r>
              <a:t>View booked doctor appointments, 2-hour reminders, and Google Meet join button.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3749039"/>
            <a:ext cx="3447288" cy="228600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76D2"/>
                </a:solidFill>
              </a:defRPr>
            </a:pPr>
            <a:r>
              <a:t>5. DOCTOR DASHBOARD</a:t>
            </a:r>
          </a:p>
          <a:p>
            <a:pPr>
              <a:defRPr sz="1200" b="1">
                <a:solidFill>
                  <a:srgbClr val="263238"/>
                </a:solidFill>
              </a:defRPr>
            </a:pPr>
            <a:r>
              <a:t>Attending Doctor Workspace</a:t>
            </a:r>
          </a:p>
          <a:p>
            <a:br/>
            <a:pPr>
              <a:defRPr sz="1100">
                <a:solidFill>
                  <a:srgbClr val="64748B"/>
                </a:solidFill>
              </a:defRPr>
            </a:pPr>
            <a:r>
              <a:t>[ Live System UI View ]</a:t>
            </a:r>
            <a:br/>
            <a:r>
              <a:t>Filterable patient queue, screening telemetry review, and prescription tools.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3749039"/>
            <a:ext cx="3447288" cy="228600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76D2"/>
                </a:solidFill>
              </a:defRPr>
            </a:pPr>
            <a:r>
              <a:t>6. DOCTOR CONSULTATION</a:t>
            </a:r>
          </a:p>
          <a:p>
            <a:pPr>
              <a:defRPr sz="1200" b="1">
                <a:solidFill>
                  <a:srgbClr val="263238"/>
                </a:solidFill>
              </a:defRPr>
            </a:pPr>
            <a:r>
              <a:t>Live Tele-Health Session</a:t>
            </a:r>
          </a:p>
          <a:p>
            <a:br/>
            <a:pPr>
              <a:defRPr sz="1100">
                <a:solidFill>
                  <a:srgbClr val="64748B"/>
                </a:solidFill>
              </a:defRPr>
            </a:pPr>
            <a:r>
              <a:t>[ Live System UI View ]</a:t>
            </a:r>
            <a:br/>
            <a:r>
              <a:t>Integrated Google Meet video room launcher with targeted patient notification.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Functionality &amp; User Interface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KONGU ENGINEERING COLLEGE  |  Department of Computer Science &amp; Engineering  |  Team BYTEPRENEURS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8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0F7FF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976D2"/>
                </a:solidFill>
              </a:defRPr>
            </a:pPr>
            <a:r>
              <a:t>PATIENT PORTAL CAPABILITIES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✓ Email/Password &amp; Google Sign-In Authentication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✓ Camera Photo Capture &amp; File Upload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✓ Automated Image Quality Checks (Blur/Focus)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✓ PyTorch 153-Class AI Model Inference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✓ Condition-Specific Clinical Screening Report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✓ Scan History &amp; PDF Report Download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✓ Multilingual Interface (English, Tamil, Hindi)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✓ Doctor Appointment Booking &amp;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280160"/>
            <a:ext cx="5212080" cy="48463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897B"/>
                </a:solidFill>
              </a:defRPr>
            </a:pPr>
            <a:r>
              <a:t>DOCTOR PORTAL CAPABILITIES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✓ Doctor Authentication &amp; Profile Management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✓ Filterable Appointments Schedule (All, Today)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✓ Patient Screening Report &amp; Telemetry Review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✓ 2-Hour Appointment Visual Banner &amp; Sound Chime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✓ REAL Google Meet Tele-Health Session Start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✓ Targeted Patient Meeting Notification System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✓ Consultation Completion &amp; Prescription Tools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Intelligent Report Generation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KONGU ENGINEERING COLLEGE  |  Department of Computer Science &amp; Engineering  |  Team BYTEPRENEURS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9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38404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68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68C55"/>
                </a:solidFill>
              </a:defRPr>
            </a:pPr>
            <a:r>
              <a:t>BRANCH 1: NORMAL / HEALTHY SKIN</a:t>
            </a:r>
          </a:p>
          <a:p>
            <a:pPr>
              <a:defRPr sz="1200" b="1">
                <a:solidFill>
                  <a:srgbClr val="263238"/>
                </a:solidFill>
              </a:defRPr>
            </a:pPr>
            <a:r>
              <a:t>Trained AI Class 101: "Normal / Healthy Skin (Benign Feature)"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Reassuring assessment summary statement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Preventive skin health guidelines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Daily sun protection recommendations (SPF 30+)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General skincare routine maintenance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280160"/>
            <a:ext cx="5212080" cy="38404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DC2626"/>
                </a:solidFill>
              </a:defRPr>
            </a:pPr>
            <a:r>
              <a:t>BRANCH 2: POSSIBLE SKIN CONDITION</a:t>
            </a:r>
          </a:p>
          <a:p>
            <a:pPr>
              <a:defRPr sz="1200" b="1">
                <a:solidFill>
                  <a:srgbClr val="263238"/>
                </a:solidFill>
              </a:defRPr>
            </a:pPr>
            <a:r>
              <a:t>Specific Predicted Condition (153 Condition Registry)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Condition Name &amp; AI Confidence Percentage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Clinical Symptoms &amp; Key Characteristics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Condition-Specific Care &amp; Precaution Advice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When to Seek Professional Dermatologist Care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728655" cy="9144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A580C"/>
                </a:solidFill>
              </a:defRPr>
            </a:pPr>
            <a:r>
              <a:t>⚠️ CLINICAL SCOPE DISCLAIMER</a:t>
            </a:r>
          </a:p>
          <a:p>
            <a:pPr algn="ctr">
              <a:defRPr sz="1200" b="1">
                <a:solidFill>
                  <a:srgbClr val="263238"/>
                </a:solidFill>
              </a:defRPr>
            </a:pPr>
            <a:r>
              <a:t>"Report content dynamically adapts to the predicted condition. AI screening is an assistive assessment tool and not a confirmed medical diagnosis."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Patient–Doctor Consultation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KONGU ENGINEERING COLLEGE  |  Department of Computer Science &amp; Engineering  |  Team BYTEPRENEURS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10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3749039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76D2"/>
                </a:solidFill>
              </a:defRPr>
            </a:pPr>
            <a:r>
              <a:t>PATIENT WORKFLOW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1. View Report ➔ Click 'Consult Doctor'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2. Select Appointment Date &amp; Time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3. Confirm Booking (Record saved to Firestore)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4. Receive Targeted Doctor Meeting Notification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5. Click 'Join Google Meet' link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280160"/>
            <a:ext cx="5212080" cy="3749039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897B"/>
                </a:solidFill>
              </a:defRPr>
            </a:pPr>
            <a:r>
              <a:t>DOCTOR WORKFLOW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1. Receive Appointment in Doctor Dashboard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2. 2-Hour Audio Chime &amp; Visual Banner Alert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3. Review Patient Scan Report &amp; Telemetry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4. Input Real Google Meet URL ➔ Click 'Start Meet'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5. Complete Consultation &amp; Mark Task 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10728655" cy="10058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ACC1"/>
                </a:solidFill>
              </a:defRPr>
            </a:pPr>
            <a:r>
              <a:t>DETERMINISTIC APPOINTMENT GUARANTEE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"Same Appointment  |  Same Patient  |  Same Real Meeting URL"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 Stack &amp; Implementation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KONGU ENGINEERING COLLEGE  |  Department of Computer Science &amp; Engineering  |  Team BYTEPRENEURS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542032" cy="4846320"/>
          </a:xfrm>
          <a:prstGeom prst="roundRect">
            <a:avLst/>
          </a:prstGeom>
          <a:solidFill>
            <a:srgbClr val="F0F7FF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76D2"/>
                </a:solidFill>
              </a:defRPr>
            </a:pPr>
            <a:r>
              <a:t>FRONTEND</a:t>
            </a:r>
          </a:p>
          <a:p/>
          <a:p>
            <a:pPr>
              <a:defRPr sz="1200">
                <a:solidFill>
                  <a:srgbClr val="263238"/>
                </a:solidFill>
              </a:defRPr>
            </a:pPr>
            <a:r>
              <a:t>• React 18 &amp; TypeScript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Tailwind CSS Layouts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Lucide React Icons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Vite Fast Bundler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280160"/>
            <a:ext cx="2542032" cy="4846320"/>
          </a:xfrm>
          <a:prstGeom prst="roundRect">
            <a:avLst/>
          </a:prstGeom>
          <a:solidFill>
            <a:srgbClr val="F0F7FF"/>
          </a:solidFill>
          <a:ln w="2540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ACC1"/>
                </a:solidFill>
              </a:defRPr>
            </a:pPr>
            <a:r>
              <a:t>BACKEND</a:t>
            </a:r>
          </a:p>
          <a:p/>
          <a:p>
            <a:pPr>
              <a:defRPr sz="1200">
                <a:solidFill>
                  <a:srgbClr val="263238"/>
                </a:solidFill>
              </a:defRPr>
            </a:pPr>
            <a:r>
              <a:t>• Python 3.11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FastAPI Framework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Uvicorn ASGI Server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Pydantic Schemas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280160"/>
            <a:ext cx="2542032" cy="4846320"/>
          </a:xfrm>
          <a:prstGeom prst="roundRect">
            <a:avLst/>
          </a:prstGeom>
          <a:solidFill>
            <a:srgbClr val="F0F7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7C3AED"/>
                </a:solidFill>
              </a:defRPr>
            </a:pPr>
            <a:r>
              <a:t>AI / ML ENGINE</a:t>
            </a:r>
          </a:p>
          <a:p/>
          <a:p>
            <a:pPr>
              <a:defRPr sz="1200">
                <a:solidFill>
                  <a:srgbClr val="263238"/>
                </a:solidFill>
              </a:defRPr>
            </a:pPr>
            <a:r>
              <a:t>• PyTorch Deep Learning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EfficientNet-B0 Backbone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Torchvision Transforms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153 Output Classes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280160"/>
            <a:ext cx="2542032" cy="4846320"/>
          </a:xfrm>
          <a:prstGeom prst="roundRect">
            <a:avLst/>
          </a:prstGeom>
          <a:solidFill>
            <a:srgbClr val="F0F7FF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897B"/>
                </a:solidFill>
              </a:defRPr>
            </a:pPr>
            <a:r>
              <a:t>DATABASE / CLOUD</a:t>
            </a:r>
          </a:p>
          <a:p/>
          <a:p>
            <a:pPr>
              <a:defRPr sz="1200">
                <a:solidFill>
                  <a:srgbClr val="263238"/>
                </a:solidFill>
              </a:defRPr>
            </a:pPr>
            <a:r>
              <a:t>• Firebase Authentication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Cloud Firestore Store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Firebase Storage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LocalStorage Sync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Scalability &amp; Future Scope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KONGU ENGINEERING COLLEGE  |  Department of Computer Science &amp; Engineering  |  Team BYTEPRENEURS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12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447288" cy="3474720"/>
          </a:xfrm>
          <a:prstGeom prst="roundRect">
            <a:avLst/>
          </a:prstGeom>
          <a:solidFill>
            <a:srgbClr val="F0F7FF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76D2"/>
                </a:solidFill>
              </a:defRPr>
            </a:pPr>
            <a:r>
              <a:t>NOW (Phase 1)</a:t>
            </a:r>
          </a:p>
          <a:p>
            <a:pPr>
              <a:defRPr sz="1200" b="1">
                <a:solidFill>
                  <a:srgbClr val="263238"/>
                </a:solidFill>
              </a:defRPr>
            </a:pPr>
            <a:r>
              <a:t>Implemented Baseline</a:t>
            </a:r>
          </a:p>
          <a:p/>
          <a:p>
            <a:pPr>
              <a:defRPr sz="1200">
                <a:solidFill>
                  <a:srgbClr val="263238"/>
                </a:solidFill>
              </a:defRPr>
            </a:pPr>
            <a:r>
              <a:t>• AI 153-Class Screening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Dynamic Report Generation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Doctor Appointment System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Tele-Health Google Meet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280160"/>
            <a:ext cx="3447288" cy="3474720"/>
          </a:xfrm>
          <a:prstGeom prst="roundRect">
            <a:avLst/>
          </a:prstGeom>
          <a:solidFill>
            <a:srgbClr val="F0F7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7C3AED"/>
                </a:solidFill>
              </a:defRPr>
            </a:pPr>
            <a:r>
              <a:t>NEXT (Phase 2)</a:t>
            </a:r>
          </a:p>
          <a:p>
            <a:pPr>
              <a:defRPr sz="1200" b="1">
                <a:solidFill>
                  <a:srgbClr val="263238"/>
                </a:solidFill>
              </a:defRPr>
            </a:pPr>
            <a:r>
              <a:t>Near-Term Enhancements</a:t>
            </a:r>
          </a:p>
          <a:p/>
          <a:p>
            <a:pPr>
              <a:defRPr sz="1200">
                <a:solidFill>
                  <a:srgbClr val="263238"/>
                </a:solidFill>
              </a:defRPr>
            </a:pPr>
            <a:r>
              <a:t>• Explainable AI (Grad-CAM)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Advanced Quality Checks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Native Mobile App (React)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Multi-Language Expansion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280160"/>
            <a:ext cx="3447288" cy="3474720"/>
          </a:xfrm>
          <a:prstGeom prst="roundRect">
            <a:avLst/>
          </a:prstGeom>
          <a:solidFill>
            <a:srgbClr val="F0F7FF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897B"/>
                </a:solidFill>
              </a:defRPr>
            </a:pPr>
            <a:r>
              <a:t>FUTURE (Phase 3)</a:t>
            </a:r>
          </a:p>
          <a:p>
            <a:pPr>
              <a:defRPr sz="1200" b="1">
                <a:solidFill>
                  <a:srgbClr val="263238"/>
                </a:solidFill>
              </a:defRPr>
            </a:pPr>
            <a:r>
              <a:t>Long-Term Vision</a:t>
            </a:r>
          </a:p>
          <a:p/>
          <a:p>
            <a:pPr>
              <a:defRPr sz="1200">
                <a:solidFill>
                  <a:srgbClr val="263238"/>
                </a:solidFill>
              </a:defRPr>
            </a:pPr>
            <a:r>
              <a:t>• Multi-Center Clinical Data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EHR / FHIR System Integration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Cloud Scalable Deployment</a:t>
            </a:r>
          </a:p>
          <a:p>
            <a:pPr>
              <a:defRPr sz="1200">
                <a:solidFill>
                  <a:srgbClr val="263238"/>
                </a:solidFill>
              </a:defRPr>
            </a:pPr>
            <a:r>
              <a:t>• Continuous Model Calibration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10728655" cy="128016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468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ACC1"/>
                </a:solidFill>
              </a:defRPr>
            </a:pPr>
            <a:r>
              <a:t>FINAL PROJECT VISION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"SCAN   ➔   UNDERSTAND   ➔   BOOK   ➔   CONSULT"</a:t>
            </a:r>
          </a:p>
          <a:p>
            <a:pPr algn="ctr">
              <a:defRPr sz="1200">
                <a:solidFill>
                  <a:srgbClr val="468C55"/>
                </a:solidFill>
              </a:defRPr>
            </a:pPr>
            <a:r>
              <a:t>DermaVision AI — Empowering patients with early awareness and seamless dermatology care.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