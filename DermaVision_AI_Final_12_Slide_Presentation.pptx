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1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66FF035A-F38A-CCF2-461D-5DD1D6DA7B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2D361-9171-401F-8E34-02CF45061B52}" type="datetime1">
              <a:rPr lang="en-US" altLang="en-US"/>
              <a:pPr>
                <a:defRPr/>
              </a:pPr>
              <a:t>8/20/2026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96948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F357E1-97AB-61CA-79C8-604E49C37A20}"/>
              </a:ext>
            </a:extLst>
          </p:cNvPr>
          <p:cNvSpPr txBox="1"/>
          <p:nvPr/>
        </p:nvSpPr>
        <p:spPr>
          <a:xfrm>
            <a:off x="2892425" y="1984375"/>
            <a:ext cx="284163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>
                <a:latin typeface="+mj-lt"/>
              </a:rPr>
              <a:t> </a:t>
            </a:r>
          </a:p>
        </p:txBody>
      </p:sp>
      <p:sp>
        <p:nvSpPr>
          <p:cNvPr id="150531" name="TextBox 2">
            <a:extLst>
              <a:ext uri="{FF2B5EF4-FFF2-40B4-BE49-F238E27FC236}">
                <a16:creationId xmlns:a16="http://schemas.microsoft.com/office/drawing/2014/main" id="{D5FDE563-C555-C964-C45C-DCCD872D1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4706938"/>
            <a:ext cx="2492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 </a:t>
            </a:r>
          </a:p>
        </p:txBody>
      </p:sp>
      <p:sp>
        <p:nvSpPr>
          <p:cNvPr id="150532" name="TextBox 6">
            <a:extLst>
              <a:ext uri="{FF2B5EF4-FFF2-40B4-BE49-F238E27FC236}">
                <a16:creationId xmlns:a16="http://schemas.microsoft.com/office/drawing/2014/main" id="{69A33FBD-81C9-F4FC-3097-E19A754E9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1457325"/>
            <a:ext cx="8151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pic>
        <p:nvPicPr>
          <p:cNvPr id="150533" name="Picture 8">
            <a:extLst>
              <a:ext uri="{FF2B5EF4-FFF2-40B4-BE49-F238E27FC236}">
                <a16:creationId xmlns:a16="http://schemas.microsoft.com/office/drawing/2014/main" id="{4F4BB1F8-6ADA-3E5D-CBE1-83A2A8250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9525"/>
            <a:ext cx="42418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4" name="Picture 10">
            <a:extLst>
              <a:ext uri="{FF2B5EF4-FFF2-40B4-BE49-F238E27FC236}">
                <a16:creationId xmlns:a16="http://schemas.microsoft.com/office/drawing/2014/main" id="{198E64A6-158F-F68B-8375-C0AA6AD7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2103438"/>
            <a:ext cx="2178050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5" name="TextBox 2">
            <a:extLst>
              <a:ext uri="{FF2B5EF4-FFF2-40B4-BE49-F238E27FC236}">
                <a16:creationId xmlns:a16="http://schemas.microsoft.com/office/drawing/2014/main" id="{3BDC343C-127E-F019-CD0E-4806E5C73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522" y="4575712"/>
            <a:ext cx="693102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IN" altLang="en-US" dirty="0"/>
              <a:t>Team Name :BYTEPRENEURS </a:t>
            </a:r>
          </a:p>
          <a:p>
            <a:r>
              <a:rPr lang="en-IN" altLang="en-US" dirty="0"/>
              <a:t>Project Guide : MS GOUTHAMI</a:t>
            </a:r>
          </a:p>
          <a:p>
            <a:r>
              <a:rPr lang="en-IN" altLang="en-US" dirty="0"/>
              <a:t>Team Members(Name &amp; Roll No) :</a:t>
            </a:r>
          </a:p>
          <a:p>
            <a:r>
              <a:rPr lang="en-IN" altLang="en-US" dirty="0"/>
              <a:t>		1.VISHVA D (25CSR352)</a:t>
            </a:r>
          </a:p>
          <a:p>
            <a:r>
              <a:rPr lang="en-IN" altLang="en-US" dirty="0"/>
              <a:t>		2.YOGESHWARAN M (25CSR361)</a:t>
            </a:r>
          </a:p>
          <a:p>
            <a:r>
              <a:rPr lang="en-IN" altLang="en-US" dirty="0"/>
              <a:t>		3.VIGNESHWARAN L (25CSR342)</a:t>
            </a:r>
          </a:p>
          <a:p>
            <a:r>
              <a:rPr lang="en-IN" altLang="en-US" dirty="0"/>
              <a:t>		4.YUVANESH V (25CSR363)</a:t>
            </a:r>
          </a:p>
          <a:p>
            <a:endParaRPr lang="en-IN" altLang="en-US" dirty="0"/>
          </a:p>
          <a:p>
            <a:endParaRPr lang="en-IN" altLang="en-US" dirty="0"/>
          </a:p>
          <a:p>
            <a:endParaRPr lang="en-IN" altLang="en-US" dirty="0"/>
          </a:p>
          <a:p>
            <a:endParaRPr lang="en-IN" altLang="en-US" dirty="0"/>
          </a:p>
          <a:p>
            <a:endParaRPr lang="en-IN" altLang="en-US" dirty="0"/>
          </a:p>
        </p:txBody>
      </p:sp>
      <p:sp>
        <p:nvSpPr>
          <p:cNvPr id="150536" name="TextBox 3">
            <a:extLst>
              <a:ext uri="{FF2B5EF4-FFF2-40B4-BE49-F238E27FC236}">
                <a16:creationId xmlns:a16="http://schemas.microsoft.com/office/drawing/2014/main" id="{C187F74F-CE31-C964-27DB-D6D2A766C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1984375"/>
            <a:ext cx="34115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IN" altLang="en-US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EB54A-BB59-3691-9968-960E8A6A319C}"/>
              </a:ext>
            </a:extLst>
          </p:cNvPr>
          <p:cNvSpPr txBox="1"/>
          <p:nvPr/>
        </p:nvSpPr>
        <p:spPr>
          <a:xfrm>
            <a:off x="3991897" y="2602706"/>
            <a:ext cx="7443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PROJECT TITLE:</a:t>
            </a:r>
            <a:r>
              <a:rPr lang="en-US" sz="2800" dirty="0">
                <a:solidFill>
                  <a:srgbClr val="FF0000"/>
                </a:solidFill>
              </a:rPr>
              <a:t>AI POWERED SKIN SCREENING AND REFERRAL SYSTEM 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KONGU ENGINEERING COLLEGE</a:t>
            </a:r>
            <a:endParaRPr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Problem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t>1. CORE PROBLEM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t>Delayed Access: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Many people cannot immediately consult a dermatologist when noticing skin abnormalities.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Long waiting times for clinical appointments.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t>2. WHO IS AFFECTED?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t>Rural &amp; Remote Users: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Limited access to specialized dermatologists.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t>Uncertain Patients: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Unsure if a lesion needs urgent clinical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91840" cy="3291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t>3. WHY SOLVE IT?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t>Early Awareness: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Encourages timely professional medical evaluation.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t>Connected Healthcare: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Bridges initial screening with doctor appointments.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937760"/>
            <a:ext cx="10241280" cy="12801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C143C"/>
                </a:solidFill>
              </a:defRPr>
            </a:pPr>
            <a:r>
              <a:t>CURRENT HEALTHCARE CHALLENGE WORKFLOW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Notice Skin Concern  ➔  Uncertainty &amp; Anxiety  ➔  Limited Immediate Access  ➔  Delayed Professional Consultation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KONGU ENGINEERING COLLEGE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Proposed Solution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572000" cy="48463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468C55"/>
                </a:solidFill>
              </a:defRPr>
            </a:pPr>
            <a:r>
              <a:rPr dirty="0"/>
              <a:t>PROPOSED SOLUTION</a:t>
            </a:r>
          </a:p>
          <a:p>
            <a:br>
              <a:rPr dirty="0"/>
            </a:br>
            <a:r>
              <a:rPr dirty="0" err="1">
                <a:solidFill>
                  <a:schemeClr val="tx1"/>
                </a:solidFill>
              </a:rPr>
              <a:t>DermaVision</a:t>
            </a:r>
            <a:r>
              <a:rPr dirty="0">
                <a:solidFill>
                  <a:schemeClr val="tx1"/>
                </a:solidFill>
              </a:rPr>
              <a:t> AI combines AI-assisted skin image screening, informative report generation, screening history, appointment management, and doctor consultation in one unified platform.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Key Focus: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• AI Screening Assist (Not a diagnosis)</a:t>
            </a:r>
            <a:br>
              <a:rPr dirty="0"/>
            </a:br>
            <a:r>
              <a:rPr dirty="0"/>
              <a:t>• 153 Skin Condition Classes Trained</a:t>
            </a:r>
            <a:br>
              <a:rPr dirty="0"/>
            </a:br>
            <a:r>
              <a:rPr dirty="0"/>
              <a:t>• Direct Tele-Dermatology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7160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1. Skin Image Capture/Upload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37160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2. PyTorch AI Model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92608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3. Confidence Score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92608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4. Condition-Specific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48056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5. Normal/Healthy Skin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480560"/>
            <a:ext cx="25603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6. Tele-Health Doctor Consult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Innovation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329184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WHAT MAKES IT UNIQUE?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rPr dirty="0"/>
              <a:t>All-in-One Workflow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Combines deep-learning screening, disease-specific reports, and tele-health doctor consultation in one seamless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329184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HOW IS IT BETTER?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rPr dirty="0"/>
              <a:t>Beyond Basic Prediction</a:t>
            </a:r>
          </a:p>
          <a:p>
            <a:br>
              <a:rPr dirty="0"/>
            </a:br>
            <a:r>
              <a:rPr dirty="0">
                <a:solidFill>
                  <a:schemeClr val="tx2"/>
                </a:solidFill>
              </a:rPr>
              <a:t>Instead of stopping at a class label, </a:t>
            </a:r>
            <a:r>
              <a:rPr dirty="0" err="1">
                <a:solidFill>
                  <a:schemeClr val="tx2"/>
                </a:solidFill>
              </a:rPr>
              <a:t>DermaVision</a:t>
            </a:r>
            <a:r>
              <a:rPr dirty="0">
                <a:solidFill>
                  <a:schemeClr val="tx2"/>
                </a:solidFill>
              </a:rPr>
              <a:t> continues from screening to dynamic report, scheduling, and doctor consult.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9184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REAL-WORLD IMPACT?</a:t>
            </a:r>
          </a:p>
          <a:p>
            <a:pPr>
              <a:defRPr sz="1300" b="1">
                <a:solidFill>
                  <a:srgbClr val="468C55"/>
                </a:solidFill>
              </a:defRPr>
            </a:pPr>
            <a:r>
              <a:rPr dirty="0"/>
              <a:t>Empowering Patients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Provides immediate preliminary clarity, educates patients on skin conditions, and connects them with dermatologists.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120640"/>
            <a:ext cx="10241280" cy="109728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DERMAVISION CONTINUOUS VALUE PATHWAY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📷 Skin Image  ➔  🧠 AI Model Inference  ➔  📄 Dynamic Report  ➔  📅 Appointment Booking  ➔  🩺 Doctor Consult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Complete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237744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1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Patient Login / Register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463040"/>
            <a:ext cx="237744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2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Upload / Capture Photo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237744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3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Image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63040"/>
            <a:ext cx="237744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4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PyTorch AI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474720"/>
            <a:ext cx="237744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5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Prediction &amp;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474720"/>
            <a:ext cx="237744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6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Dynamic Clinical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74720"/>
            <a:ext cx="237744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7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Book Doctor Consult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474720"/>
            <a:ext cx="237744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STEP 8</a:t>
            </a:r>
            <a:br/>
            <a:endParaRPr/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Doctor Portal &amp; Meet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5303520"/>
            <a:ext cx="1024128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76C085"/>
                </a:solidFill>
              </a:defRPr>
            </a:pPr>
            <a:r>
              <a:t>SYSTEM ARCHITECTURE INTEGRATION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PATIENT PORTAL (React / TS)   ◄─────►   FIREBASE &amp; FASTAPI BACKEND   ◄─────►   DOCTOR PORTAL (React)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AI Model &amp; Image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19202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1. Image Upload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Original Skin Photo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Captures lesion photo via camera or file upload.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19202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2. Preprocessing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Resize &amp; Normalize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Resizes to 224x224 and normalizes using ImageNet mean/std.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63040"/>
            <a:ext cx="19202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3. Model Inference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EfficientNet-B0</a:t>
            </a:r>
          </a:p>
          <a:p>
            <a:br>
              <a:rPr dirty="0"/>
            </a:br>
            <a:r>
              <a:rPr dirty="0" err="1">
                <a:solidFill>
                  <a:srgbClr val="FF0000"/>
                </a:solidFill>
              </a:rPr>
              <a:t>PyTorch</a:t>
            </a:r>
            <a:r>
              <a:rPr dirty="0">
                <a:solidFill>
                  <a:srgbClr val="FF0000"/>
                </a:solidFill>
              </a:rPr>
              <a:t> deep neural network evaluates visual feature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9202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4. Probabilities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 err="1"/>
              <a:t>Softmax</a:t>
            </a:r>
            <a:r>
              <a:rPr dirty="0"/>
              <a:t> Layer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Computes probability distribution across all 153 trained classes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59" y="1463040"/>
            <a:ext cx="19202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rPr dirty="0"/>
              <a:t>5. Output Report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Validated Class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Selects top condition score &amp; generates disease-specific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394960"/>
            <a:ext cx="1033272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6D28D9"/>
                </a:solidFill>
              </a:defRPr>
            </a:pPr>
            <a:r>
              <a:t>ACTUAL MODEL CONFIGURATION &amp; PREPROCESSING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Model: EfficientNet-B0 / ResNet50 (153 Output Classes)  • Framework: PyTorch &amp; Torchvision  • Weights: trained_skin_model.pth  • Includes Class 101: Normal / Healthy Skin (Benign Feature)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Prototype Design &amp; UI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19202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>
                <a:solidFill>
                  <a:schemeClr val="tx1"/>
                </a:solidFill>
              </a:rPr>
              <a:t>1. Patient Home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>
                <a:solidFill>
                  <a:schemeClr val="tx1"/>
                </a:solidFill>
              </a:rPr>
              <a:t>Landing Page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rgbClr val="FF0000"/>
                </a:solidFill>
              </a:rPr>
              <a:t>[Live UI View]</a:t>
            </a:r>
            <a:br>
              <a:rPr dirty="0">
                <a:solidFill>
                  <a:srgbClr val="FF0000"/>
                </a:solidFill>
              </a:rPr>
            </a:b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User authentication, quick scanner launcher, disease knowledge explorer.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399" y="1463040"/>
            <a:ext cx="19202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2. Skin Scanner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AI Processing</a:t>
            </a:r>
          </a:p>
          <a:p>
            <a:br>
              <a:rPr dirty="0"/>
            </a:br>
            <a:r>
              <a:rPr dirty="0"/>
              <a:t>[</a:t>
            </a:r>
            <a:r>
              <a:rPr dirty="0">
                <a:solidFill>
                  <a:srgbClr val="FF0000"/>
                </a:solidFill>
              </a:rPr>
              <a:t>Live UI View]</a:t>
            </a:r>
            <a:br>
              <a:rPr dirty="0">
                <a:solidFill>
                  <a:srgbClr val="FF0000"/>
                </a:solidFill>
              </a:rPr>
            </a:b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Image upload/capture with live quality checks and analysis trigger.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63040"/>
            <a:ext cx="19202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3. Clinical Report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100% Model Driven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[Live UI View]</a:t>
            </a:r>
            <a:br>
              <a:rPr dirty="0">
                <a:solidFill>
                  <a:srgbClr val="FF0000"/>
                </a:solidFill>
              </a:rPr>
            </a:b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Shows top prediction, confidence score, symptoms &amp; clinical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4550"/>
            <a:ext cx="19202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4. Appointments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Patient Schedule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rgbClr val="FF0000"/>
                </a:solidFill>
              </a:rPr>
              <a:t>[Live UI View]</a:t>
            </a:r>
            <a:br>
              <a:rPr dirty="0">
                <a:solidFill>
                  <a:srgbClr val="FF0000"/>
                </a:solidFill>
              </a:rPr>
            </a:b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Displays booked appointments, 2-hour reminders &amp; Google Meet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59" y="1463040"/>
            <a:ext cx="19202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5. Doctor Portal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rPr dirty="0"/>
              <a:t>Attending Doctor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[Live UI View]</a:t>
            </a:r>
            <a:br>
              <a:rPr dirty="0">
                <a:solidFill>
                  <a:srgbClr val="FF0000"/>
                </a:solidFill>
              </a:rPr>
            </a:b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Doctor queue, appointment management &amp; Google Meet launcher.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Functionality &amp; 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846320" cy="48463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CC"/>
                </a:solidFill>
              </a:defRPr>
            </a:pPr>
            <a:r>
              <a:t>PATIENT PORTAL FEATURES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Patient Email / Password &amp; Google Sign-In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Camera Image Capture &amp; Upload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Image Quality Validation (Blur &amp; Focus)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PyTorch 153-Class AI Analysis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Condition-Specific Clinical Screening Report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Scan History &amp; PDF Report Download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Multilingual Interface (English, Tamil, Hindi)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Doctor Appointment Booking &amp;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68C55"/>
                </a:solidFill>
              </a:defRPr>
            </a:pPr>
            <a:r>
              <a:t>DOCTOR PORTAL FEATURES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Doctor Portal Authentication &amp; Profile Settings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Filterable Appointments Queue (Today, Upcoming)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Patient Screening Report &amp; Telemetry Access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2-Hour Appointment Audio Chime &amp; Visual Banner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Real Google Meet Tele-Health Session Launcher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Targeted Patient Meeting Notification System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Consultation Completion &amp; Prescription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KONGU ENGINEERING COLLEGE</a:t>
            </a:r>
          </a:p>
          <a:p>
            <a:pPr algn="ctr"/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Intelligent Report Generation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846320" cy="393192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68C55"/>
                </a:solidFill>
              </a:defRPr>
            </a:pPr>
            <a:r>
              <a:t>BRANCH 1: NORMAL / HEALTHY SKIN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t>Trained AI Class Index 101: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"Normal / Healthy Skin (Benign Feature)"</a:t>
            </a:r>
          </a:p>
          <a:p>
            <a:pPr>
              <a:defRPr sz="1200" b="1">
                <a:solidFill>
                  <a:srgbClr val="468C55"/>
                </a:solidFill>
              </a:defRPr>
            </a:pPr>
            <a:r>
              <a:t>Dynamic Report Output: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Reassuring assessment statement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Preventive skincare guidance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Sun protection advice (SPF 30+)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Regular routine maintenance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39319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C143C"/>
                </a:solidFill>
              </a:defRPr>
            </a:pPr>
            <a:r>
              <a:t>BRANCH 2: POSSIBLE SKIN CONDITION</a:t>
            </a:r>
          </a:p>
          <a:p>
            <a:pPr>
              <a:defRPr sz="1200" b="1">
                <a:solidFill>
                  <a:srgbClr val="DC143C"/>
                </a:solidFill>
              </a:defRPr>
            </a:pPr>
            <a:r>
              <a:t>Specific Predicted Condition: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Mapped via Disease Knowledge Registry (153 Classes)</a:t>
            </a:r>
          </a:p>
          <a:p>
            <a:pPr>
              <a:defRPr sz="1200" b="1">
                <a:solidFill>
                  <a:srgbClr val="DC143C"/>
                </a:solidFill>
              </a:defRPr>
            </a:pPr>
            <a:r>
              <a:t>Dynamic Report Output: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Exact Condition Name &amp; Confidence Score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Clinical Symptoms &amp; Key Characteristics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Management Guidance &amp; Precautions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When to Seek Professional Help &amp; Doctor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5486400"/>
            <a:ext cx="10241280" cy="82296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⚠️ MANDATORY CLINICAL SAFETY DISCLAIMER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"AI output is an assistive screening result and not a confirmed medical diagnosis. Professional dermatologist evaluation is required."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Patient–Doctor Consultation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1. View Report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Patient reviews AI screening report &amp; clicks Consult Doctor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2. Book Consult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Selects appointment Date &amp; Time via booking modal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3. Doctor Queue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Appointment appears in Doctor Dashboard schedule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47472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4. 2-Hour Alert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Doctor receives visual banner &amp; audio chime 2H prior.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38328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5. Start Meet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Doctor enters real Google Meet URL &amp; clicks Start.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47472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00CC"/>
                </a:solidFill>
              </a:defRPr>
            </a:pPr>
            <a:r>
              <a:rPr dirty="0"/>
              <a:t>6. Patient Join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Patient receives targeted alert &amp; joins exact same URL.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5303520"/>
            <a:ext cx="10241280" cy="1005840"/>
          </a:xfrm>
          <a:prstGeom prst="roundRect">
            <a:avLst/>
          </a:prstGeom>
          <a:solidFill>
            <a:srgbClr val="F0FDF4"/>
          </a:solidFill>
          <a:ln>
            <a:solidFill>
              <a:srgbClr val="4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68C55"/>
                </a:solidFill>
              </a:defRPr>
            </a:pPr>
            <a:r>
              <a:t>STATE MACHINE &amp; PATIENT ISOLATION GUARANTEE</a:t>
            </a:r>
          </a:p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REPORT  ➔  APPOINTMENT  ➔  SCHEDULED TIME  ➔  REAL GOOGLE MEET  ➔  TARGETED PATIENT JOIN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Tech Stack &amp; Technical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23774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rPr sz="2400" dirty="0"/>
              <a:t>FRONT END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React 18 &amp; TypeScript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Tailwind CSS Layouts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Lucide</a:t>
            </a:r>
            <a:r>
              <a:rPr sz="2400" dirty="0"/>
              <a:t> React Icons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Vite 6 Fast Bundler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463040"/>
            <a:ext cx="23774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rPr sz="2400" dirty="0"/>
              <a:t>BACK END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Python 3.11 &amp; </a:t>
            </a:r>
            <a:r>
              <a:rPr sz="2400" dirty="0" err="1"/>
              <a:t>FastAPI</a:t>
            </a:r>
            <a:endParaRPr sz="2400" dirty="0"/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Uvicorn</a:t>
            </a:r>
            <a:r>
              <a:rPr sz="2400" dirty="0"/>
              <a:t> ASGI Server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RESTful API Endpoints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Pydantic</a:t>
            </a:r>
            <a:r>
              <a:rPr sz="2400" dirty="0"/>
              <a:t> Schemas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23774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rPr sz="2400" dirty="0"/>
              <a:t>DATABASE / CLOUD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Firebase Auth &amp; </a:t>
            </a:r>
            <a:r>
              <a:rPr sz="2400" dirty="0" err="1"/>
              <a:t>Firestore</a:t>
            </a:r>
            <a:endParaRPr sz="2400" dirty="0"/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user_appointments</a:t>
            </a:r>
            <a:r>
              <a:rPr sz="2400" dirty="0"/>
              <a:t> Store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user_notifications</a:t>
            </a:r>
            <a:r>
              <a:rPr sz="2400" dirty="0"/>
              <a:t> Store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LocalStorage</a:t>
            </a:r>
            <a:r>
              <a:rPr sz="2400" dirty="0"/>
              <a:t>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463040"/>
            <a:ext cx="23774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CC"/>
                </a:solidFill>
              </a:defRPr>
            </a:pPr>
            <a:r>
              <a:rPr sz="2400" dirty="0"/>
              <a:t>AI / ML ENGINE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PyTorch</a:t>
            </a:r>
            <a:r>
              <a:rPr sz="2400" dirty="0"/>
              <a:t> Deep Learning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EfficientNet-B0 Backbone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Torchvision</a:t>
            </a:r>
            <a:r>
              <a:rPr sz="2400" dirty="0"/>
              <a:t> Transforms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• 153 Output Classes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3200">
                <a:solidFill>
                  <a:srgbClr val="7030A0"/>
                </a:solidFill>
              </a:rPr>
              <a:t>KONGU ENGINEERING COLLEGE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CC"/>
                </a:solidFill>
              </a:defRPr>
            </a:pPr>
            <a:r>
              <a:t>Scalability, Future Scope &amp; Expected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4846320" cy="39319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CC"/>
                </a:solidFill>
              </a:defRPr>
            </a:pPr>
            <a:r>
              <a:rPr sz="1600" dirty="0"/>
              <a:t>EXPECTED OUTCOMES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Rapid preliminary skin disease screening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Enhanced patient awareness of skin conditions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Dynamic, condition-specific clinical reports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Reassuring guidance for normal/healthy skin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Centralized screening history for patients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Streamlined doctor appointment scheduling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Seamless patient–doctor tele-consultation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393192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D28D9"/>
                </a:solidFill>
              </a:defRPr>
            </a:pPr>
            <a:r>
              <a:rPr sz="1600" dirty="0"/>
              <a:t>FUTURE SCOPE &amp; ENHANCEMENTS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Multi-center clinical dataset expansion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Explainable AI (Grad-CAM visual heatmaps)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Native Mobile App (iOS / Android React Native)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Enhanced blur &amp; illumination validation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Expanded skin condition classification head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1600" dirty="0"/>
              <a:t>• EHR / FHIR clinical system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5486400"/>
            <a:ext cx="10241280" cy="822960"/>
          </a:xfrm>
          <a:prstGeom prst="roundRect">
            <a:avLst/>
          </a:prstGeom>
          <a:solidFill>
            <a:srgbClr val="76C085"/>
          </a:solidFill>
          <a:ln>
            <a:solidFill>
              <a:srgbClr val="76C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FINAL VISION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"SCAN  ➔  UNDERSTAND  ➔  BOOK  ➔  CONSULT"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1287</Words>
  <Application>Microsoft Office PowerPoint</Application>
  <PresentationFormat>Widescreen</PresentationFormat>
  <Paragraphs>210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Yogesh M</cp:lastModifiedBy>
  <cp:revision>7</cp:revision>
  <dcterms:created xsi:type="dcterms:W3CDTF">2013-01-27T09:14:16Z</dcterms:created>
  <dcterms:modified xsi:type="dcterms:W3CDTF">2026-08-20T02:31:39Z</dcterms:modified>
  <cp:category/>
</cp:coreProperties>
</file>