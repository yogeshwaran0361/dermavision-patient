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17866738541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2123" y="738210"/>
            <a:ext cx="7315200" cy="153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dirty="0"/>
            </a:br>
            <a:r>
              <a:rPr dirty="0">
                <a:highlight>
                  <a:srgbClr val="FFFF00"/>
                </a:highlight>
              </a:rPr>
              <a:t>AI-Powered Skin Disease Analysis and Screening Assistance System</a:t>
            </a:r>
          </a:p>
          <a:p>
            <a:pPr>
              <a:defRPr sz="1250">
                <a:solidFill>
                  <a:srgbClr val="0EA5E9"/>
                </a:solidFill>
              </a:defRPr>
            </a:pPr>
            <a:r>
              <a:rPr dirty="0">
                <a:highlight>
                  <a:srgbClr val="FFFF00"/>
                </a:highlight>
              </a:rPr>
              <a:t>AI-Assisted Cutaneous Image Analysis with Patient Reporting &amp; Tele-Dermatology Consultation</a:t>
            </a:r>
          </a:p>
          <a:p>
            <a:br>
              <a:rPr dirty="0">
                <a:highlight>
                  <a:srgbClr val="FFFF00"/>
                </a:highlight>
              </a:rPr>
            </a:br>
            <a:r>
              <a:rPr dirty="0"/>
              <a:t>Proof of Concept (POC) Technical Evaluation Presentation 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rPr dirty="0"/>
              <a:t>Core Stack: </a:t>
            </a:r>
            <a:r>
              <a:rPr dirty="0" err="1"/>
              <a:t>PyTorch</a:t>
            </a:r>
            <a:r>
              <a:rPr dirty="0"/>
              <a:t> ResNet50 Deep AI | OpenCV Quality Checker | </a:t>
            </a:r>
            <a:r>
              <a:rPr dirty="0" err="1"/>
              <a:t>FastAPI</a:t>
            </a:r>
            <a:r>
              <a:rPr dirty="0"/>
              <a:t> Backend | Firebase | React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AA646D-29D3-A367-F75E-61247C489A29}"/>
              </a:ext>
            </a:extLst>
          </p:cNvPr>
          <p:cNvSpPr txBox="1"/>
          <p:nvPr/>
        </p:nvSpPr>
        <p:spPr>
          <a:xfrm>
            <a:off x="4103649" y="2593587"/>
            <a:ext cx="55235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MEMBERS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                 D VISHVA(25CSR352)</a:t>
            </a:r>
          </a:p>
          <a:p>
            <a:r>
              <a:rPr lang="en-US" dirty="0">
                <a:latin typeface="+mj-lt"/>
              </a:rPr>
              <a:t>                 L VIGNESHWARAN(25CSR342)     </a:t>
            </a:r>
          </a:p>
          <a:p>
            <a:r>
              <a:rPr lang="en-US" dirty="0">
                <a:latin typeface="+mj-lt"/>
              </a:rPr>
              <a:t>                 M YOGESHWARAN(25CSR361)  </a:t>
            </a:r>
          </a:p>
          <a:p>
            <a:r>
              <a:rPr lang="en-US" dirty="0">
                <a:latin typeface="+mj-lt"/>
              </a:rPr>
              <a:t>                 V YUVANESH(25CSR363)</a:t>
            </a:r>
          </a:p>
          <a:p>
            <a:r>
              <a:rPr lang="en-US" dirty="0">
                <a:latin typeface="+mj-lt"/>
              </a:rPr>
              <a:t> </a:t>
            </a:r>
            <a:endParaRPr lang="en-IN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BDAB3F-7B43-B0FE-69B5-D666F5DB38EC}"/>
              </a:ext>
            </a:extLst>
          </p:cNvPr>
          <p:cNvSpPr txBox="1"/>
          <p:nvPr/>
        </p:nvSpPr>
        <p:spPr>
          <a:xfrm>
            <a:off x="689888" y="3035661"/>
            <a:ext cx="2930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NAME:BYTEPRENEURS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17866738541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01168"/>
            <a:ext cx="749807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DERMAVISION AI — 12-SLIDE POC PRESENTATION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51560"/>
            <a:ext cx="3657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11D48"/>
                </a:solidFill>
              </a:defRPr>
            </a:pPr>
            <a:r>
              <a:rPr dirty="0"/>
              <a:t>PROBLEM STATEMENT</a:t>
            </a:r>
          </a:p>
          <a:p>
            <a:pPr>
              <a:spcAft>
                <a:spcPts val="400"/>
              </a:spcAft>
            </a:pPr>
            <a:r>
              <a:rPr sz="950" b="1" dirty="0">
                <a:solidFill>
                  <a:srgbClr val="0F172A"/>
                </a:solidFill>
              </a:rPr>
              <a:t>• Specialist Shortage:</a:t>
            </a:r>
            <a:r>
              <a:rPr sz="950" dirty="0">
                <a:solidFill>
                  <a:srgbClr val="1E293B"/>
                </a:solidFill>
              </a:rPr>
              <a:t> Global dermatologist shortages cause 4-8 week consultation delays.</a:t>
            </a:r>
          </a:p>
          <a:p>
            <a:pPr>
              <a:spcAft>
                <a:spcPts val="400"/>
              </a:spcAft>
            </a:pPr>
            <a:r>
              <a:rPr sz="950" b="1" dirty="0">
                <a:solidFill>
                  <a:srgbClr val="0F172A"/>
                </a:solidFill>
              </a:rPr>
              <a:t>• Visual Complexity:</a:t>
            </a:r>
            <a:r>
              <a:rPr sz="950" dirty="0">
                <a:solidFill>
                  <a:srgbClr val="1E293B"/>
                </a:solidFill>
              </a:rPr>
              <a:t> Lesions (e.g. Moles vs. Melanoma) are hard for non-specialists to classify.</a:t>
            </a:r>
          </a:p>
          <a:p>
            <a:pPr>
              <a:spcAft>
                <a:spcPts val="400"/>
              </a:spcAft>
            </a:pPr>
            <a:r>
              <a:rPr sz="950" b="1" dirty="0">
                <a:solidFill>
                  <a:srgbClr val="0F172A"/>
                </a:solidFill>
              </a:rPr>
              <a:t>• Rural Access Barriers:</a:t>
            </a:r>
            <a:r>
              <a:rPr sz="950" dirty="0">
                <a:solidFill>
                  <a:srgbClr val="1E293B"/>
                </a:solidFill>
              </a:rPr>
              <a:t> Remote patients face geographic and financial hurdles.</a:t>
            </a:r>
          </a:p>
          <a:p>
            <a:pPr>
              <a:spcAft>
                <a:spcPts val="400"/>
              </a:spcAft>
            </a:pPr>
            <a:r>
              <a:rPr sz="950" b="1" dirty="0">
                <a:solidFill>
                  <a:srgbClr val="0F172A"/>
                </a:solidFill>
              </a:rPr>
              <a:t>• Delayed Cancer Intervention:</a:t>
            </a:r>
            <a:r>
              <a:rPr sz="950" dirty="0">
                <a:solidFill>
                  <a:srgbClr val="1E293B"/>
                </a:solidFill>
              </a:rPr>
              <a:t> Patients ignore early precancerous spots until advanced stages.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1051560"/>
            <a:ext cx="3657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59669"/>
                </a:solidFill>
              </a:defRPr>
            </a:pPr>
            <a:r>
              <a:t>PROJECT OBJECTIVES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F172A"/>
                </a:solidFill>
              </a:rPr>
              <a:t>1. PyTorch ResNet50 Classifier:</a:t>
            </a:r>
            <a:r>
              <a:rPr sz="950">
                <a:solidFill>
                  <a:srgbClr val="1E293B"/>
                </a:solidFill>
              </a:rPr>
              <a:t> Build an automated AI engine classifying 10 skin disease categories.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F172A"/>
                </a:solidFill>
              </a:rPr>
              <a:t>2. OpenCV Image Validation:</a:t>
            </a:r>
            <a:r>
              <a:rPr sz="950">
                <a:solidFill>
                  <a:srgbClr val="1E293B"/>
                </a:solidFill>
              </a:rPr>
              <a:t> Pre-screen images for blur and brightness before AI execution.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F172A"/>
                </a:solidFill>
              </a:rPr>
              <a:t>3. Risk Stratification:</a:t>
            </a:r>
            <a:r>
              <a:rPr sz="950">
                <a:solidFill>
                  <a:srgbClr val="1E293B"/>
                </a:solidFill>
              </a:rPr>
              <a:t> Provide 4 risk levels (Low, Moderate, High, Critical) with Softmax confidence.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F172A"/>
                </a:solidFill>
              </a:rPr>
              <a:t>4. Tri-Lingual Reporting:</a:t>
            </a:r>
            <a:r>
              <a:rPr sz="950">
                <a:solidFill>
                  <a:srgbClr val="1E293B"/>
                </a:solidFill>
              </a:rPr>
              <a:t> Generate reports in English, Tamil, and Hindi with PDF export.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F172A"/>
                </a:solidFill>
              </a:rPr>
              <a:t>5. Firebase Cloud Hosting:</a:t>
            </a:r>
            <a:r>
              <a:rPr sz="950">
                <a:solidFill>
                  <a:srgbClr val="1E293B"/>
                </a:solidFill>
              </a:rPr>
              <a:t> Securely store profiles, scan history, and photos via Firestore &amp; Storage.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F172A"/>
                </a:solidFill>
              </a:rPr>
              <a:t>6. Tele-Health Doctor Portal:</a:t>
            </a:r>
            <a:r>
              <a:rPr sz="950">
                <a:solidFill>
                  <a:srgbClr val="1E293B"/>
                </a:solidFill>
              </a:rPr>
              <a:t> Provide doctor workspace for Rx issuing and Google Meet video calls.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17866738541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01168"/>
            <a:ext cx="749807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DERMAVISION AI — 12-SLIDE POC PRESENTATION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Methodology &amp; End-to-End System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0584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</a:defRPr>
            </a:pPr>
            <a:r>
              <a:rPr dirty="0"/>
              <a:t>Complete Technical Execution Pipeline: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</a:defRPr>
            </a:pPr>
            <a:r>
              <a:rPr dirty="0"/>
              <a:t>  ➔  1. DATASET PREPARATION: 10 Clinical Disease Classes (Acne, Actinic Keratosis, Melanoma, Nevus, Psoriasis, etc.)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</a:defRPr>
            </a:pPr>
            <a:r>
              <a:rPr dirty="0"/>
              <a:t>  ➔  2. PREPROCESSING &amp; NORMALIZATION: RGB Conversion, 224x224 Resizing, ImageNet Mean &amp; Std Normalization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</a:defRPr>
            </a:pPr>
            <a:r>
              <a:rPr dirty="0"/>
              <a:t>  ➔  3. MODEL TRAINING: </a:t>
            </a:r>
            <a:r>
              <a:rPr dirty="0" err="1"/>
              <a:t>PyTorch</a:t>
            </a:r>
            <a:r>
              <a:rPr dirty="0"/>
              <a:t> ResNet50 Backbone + Custom Classification Head + Cross-Entropy Loss + Adam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</a:defRPr>
            </a:pPr>
            <a:r>
              <a:rPr dirty="0"/>
              <a:t>  ➔  4. BACKEND SERVING: </a:t>
            </a:r>
            <a:r>
              <a:rPr dirty="0" err="1"/>
              <a:t>FastAPI</a:t>
            </a:r>
            <a:r>
              <a:rPr dirty="0"/>
              <a:t> Server (Python 3.11) + OpenCV Quality Checker (Laplacian Blur &amp; Exposure)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</a:defRPr>
            </a:pPr>
            <a:r>
              <a:rPr dirty="0"/>
              <a:t>  ➔  5. PATIENT FRONTEND SCANNER: React 19 + TypeScript + Vite 6 + Photo Upload / Smartphone Camera </a:t>
            </a:r>
            <a:r>
              <a:rPr dirty="0" err="1"/>
              <a:t>Dropzone</a:t>
            </a:r>
            <a:endParaRPr dirty="0"/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</a:defRPr>
            </a:pPr>
            <a:r>
              <a:rPr dirty="0"/>
              <a:t>  ➔  6. INFERENCE &amp; REPORT ENGINE: </a:t>
            </a:r>
            <a:r>
              <a:rPr dirty="0" err="1"/>
              <a:t>Softmax</a:t>
            </a:r>
            <a:r>
              <a:rPr dirty="0"/>
              <a:t> Ensemble Probabilities -&gt; Multilingual Medical Knowledge Lookup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</a:defRPr>
            </a:pPr>
            <a:r>
              <a:rPr dirty="0"/>
              <a:t>  ➔  7. FIREBASE CLOUD MANAGEMENT: Auth (Google Sign-In), </a:t>
            </a:r>
            <a:r>
              <a:rPr dirty="0" err="1"/>
              <a:t>Firestore</a:t>
            </a:r>
            <a:r>
              <a:rPr dirty="0"/>
              <a:t> (NoSQL Docs), Storage (Image Download URLs)</a:t>
            </a:r>
          </a:p>
          <a:p>
            <a:pPr>
              <a:spcAft>
                <a:spcPts val="400"/>
              </a:spcAft>
              <a:defRPr sz="1000" b="1">
                <a:solidFill>
                  <a:srgbClr val="0F172A"/>
                </a:solidFill>
              </a:defRPr>
            </a:pPr>
            <a:r>
              <a:rPr dirty="0"/>
              <a:t>  ➔  8. DOCTOR PORTAL &amp; CONSULTATION: Doctor Dashboard + Prescriptions (Rx) + 3-Dots Case Delete + Google Meet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17866738541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01168"/>
            <a:ext cx="749807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DERMAVISION AI — 12-SLIDE POC PRESENTATION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Dataset &amp; PyTorch ResNet50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51560"/>
            <a:ext cx="749807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</a:rPr>
              <a:t>• Model Architecture:</a:t>
            </a:r>
            <a:r>
              <a:rPr sz="1050">
                <a:solidFill>
                  <a:srgbClr val="1E293B"/>
                </a:solidFill>
              </a:rPr>
              <a:t> Deep Residual Neural Network (PyTorch torchvision.models.resnet50) with 50 layers.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</a:rPr>
              <a:t>• Skip Connections:</a:t>
            </a:r>
            <a:r>
              <a:rPr sz="1050">
                <a:solidFill>
                  <a:srgbClr val="1E293B"/>
                </a:solidFill>
              </a:rPr>
              <a:t> Solves vanishing gradient problem via shortcut paths y = F(x) + x for unattenuated gradient flow.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</a:rPr>
              <a:t>• Output Classes (10):</a:t>
            </a:r>
            <a:r>
              <a:rPr sz="1050">
                <a:solidFill>
                  <a:srgbClr val="1E293B"/>
                </a:solidFill>
              </a:rPr>
              <a:t> Acne/Rosacea, Actinic Keratosis, Benign Other, Eczema/Dermatitis, Melanoma, Nevus/Mole, Psoriasis, Seborrheic Keratosis, Tinea Fungal, Vascular Lesion.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</a:rPr>
              <a:t>• Input Shape &amp; Transforms:</a:t>
            </a:r>
            <a:r>
              <a:rPr sz="1050">
                <a:solidFill>
                  <a:srgbClr val="1E293B"/>
                </a:solidFill>
              </a:rPr>
              <a:t> Tensor (1, 3, 224, 224) RGB | Normalized with Mean=[0.485, 0.456, 0.406], Std=[0.229, 0.224, 0.225].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</a:rPr>
              <a:t>• Classification Head:</a:t>
            </a:r>
            <a:r>
              <a:rPr sz="1050">
                <a:solidFill>
                  <a:srgbClr val="1E293B"/>
                </a:solidFill>
              </a:rPr>
              <a:t> 2048-dim Average Pooling -&gt; Dropout(0.3) -&gt; Linear(2048 -&gt; 10).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</a:rPr>
              <a:t>• Optimizer &amp; Loss:</a:t>
            </a:r>
            <a:r>
              <a:rPr sz="1050">
                <a:solidFill>
                  <a:srgbClr val="1E293B"/>
                </a:solidFill>
              </a:rPr>
              <a:t> Adam Optimizer (Learning Rate = 10^-4) with Categorical Cross-Entropy Loss L = -sum(y * log(p)).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</a:rPr>
              <a:t>• Weight Checkpoints:</a:t>
            </a:r>
            <a:r>
              <a:rPr sz="1050">
                <a:solidFill>
                  <a:srgbClr val="1E293B"/>
                </a:solidFill>
              </a:rPr>
              <a:t> real_skin_classifier_v1.pth, real_skin_classifier_v2.pth (~90 MB trained weights).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17866738541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01168"/>
            <a:ext cx="749807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DERMAVISION AI — 12-SLIDE POC PRESENTATION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Runtime AI Inference &amp; OpenCV Quality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51560"/>
            <a:ext cx="749807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</a:rPr>
              <a:t>1. Image Upload &amp; Request:</a:t>
            </a:r>
            <a:r>
              <a:rPr sz="1050">
                <a:solidFill>
                  <a:srgbClr val="1E293B"/>
                </a:solidFill>
              </a:rPr>
              <a:t> Patient uploads skin photo -&gt; React sends multipart/form-data request to POST /api/ai/predict.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</a:rPr>
              <a:t>2. OpenCV Quality Checker:</a:t>
            </a:r>
            <a:r>
              <a:rPr sz="1050">
                <a:solidFill>
                  <a:srgbClr val="1E293B"/>
                </a:solidFill>
              </a:rPr>
              <a:t> quality_checker.py computes Laplacian variance var(grad^2 I) for focus (&gt; 20.0) and mean brightness (10–245 range). Warns user if blurry or dark.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</a:rPr>
              <a:t>3. Preprocessing Pipeline:</a:t>
            </a:r>
            <a:r>
              <a:rPr sz="1050">
                <a:solidFill>
                  <a:srgbClr val="1E293B"/>
                </a:solidFill>
              </a:rPr>
              <a:t> Image bytes converted to PIL RGB -&gt; Resized to 224x224 -&gt; Transformed to PyTorch tensor with ImageNet normalization.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</a:rPr>
              <a:t>4. ResNet50 Inference Pass:</a:t>
            </a:r>
            <a:r>
              <a:rPr sz="1050">
                <a:solidFill>
                  <a:srgbClr val="1E293B"/>
                </a:solidFill>
              </a:rPr>
              <a:t> PyTorch models run forward pass under torch.no_grad() -&gt; Computes class probability distribution.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</a:rPr>
              <a:t>5. Softmax Probability Ensemble:</a:t>
            </a:r>
            <a:r>
              <a:rPr sz="1050">
                <a:solidFill>
                  <a:srgbClr val="1E293B"/>
                </a:solidFill>
              </a:rPr>
              <a:t> Softmax converts logits into 10 class probabilities P_i = exp(z_i) / sum(exp(z_j)) -&gt; Ensemble averages scores across checkpoints.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</a:rPr>
              <a:t>6. Disease &amp; Risk Stratification:</a:t>
            </a:r>
            <a:r>
              <a:rPr sz="1050">
                <a:solidFill>
                  <a:srgbClr val="1E293B"/>
                </a:solidFill>
              </a:rPr>
              <a:t> Argmax selects top class -&gt; Retrieves localized clinical description, risk tier, symptoms &amp; doctor advice.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17866738541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01168"/>
            <a:ext cx="749807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DERMAVISION AI — 12-SLIDE POC PRESENTATION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System Technology Stack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51560"/>
            <a:ext cx="749807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EA5E9"/>
                </a:solidFill>
              </a:rPr>
              <a:t>• Patient Mobile Web App:</a:t>
            </a:r>
            <a:r>
              <a:rPr sz="1050">
                <a:solidFill>
                  <a:srgbClr val="1E293B"/>
                </a:solidFill>
              </a:rPr>
              <a:t> React 19 + TypeScript + Vite 6 + Tailwind CSS 4 (Responsive SPA with dark mode)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EA5E9"/>
                </a:solidFill>
              </a:rPr>
              <a:t>• Doctor Web Portal:</a:t>
            </a:r>
            <a:r>
              <a:rPr sz="1050">
                <a:solidFill>
                  <a:srgbClr val="1E293B"/>
                </a:solidFill>
              </a:rPr>
              <a:t> React 18 + TypeScript + Vite 5 + Tailwind CSS 3 (Specialized Tele-Health Workspace)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EA5E9"/>
                </a:solidFill>
              </a:rPr>
              <a:t>• AI Backend API Server:</a:t>
            </a:r>
            <a:r>
              <a:rPr sz="1050">
                <a:solidFill>
                  <a:srgbClr val="1E293B"/>
                </a:solidFill>
              </a:rPr>
              <a:t> Python 3.11 + FastAPI + Uvicorn ASGI Server + PyTorch + Torchvision + OpenCV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EA5E9"/>
                </a:solidFill>
              </a:rPr>
              <a:t>• Firebase Authentication:</a:t>
            </a:r>
            <a:r>
              <a:rPr sz="1050">
                <a:solidFill>
                  <a:srgbClr val="1E293B"/>
                </a:solidFill>
              </a:rPr>
              <a:t> Google Sign-In &amp; Email/Password with Firebase Auth UID security isolation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EA5E9"/>
                </a:solidFill>
              </a:rPr>
              <a:t>• Cloud Firestore Database:</a:t>
            </a:r>
            <a:r>
              <a:rPr sz="1050">
                <a:solidFill>
                  <a:srgbClr val="1E293B"/>
                </a:solidFill>
              </a:rPr>
              <a:t> Real-time NoSQL collections (users, scans, consultations, messages, notifications)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EA5E9"/>
                </a:solidFill>
              </a:rPr>
              <a:t>• Firebase Cloud Storage:</a:t>
            </a:r>
            <a:r>
              <a:rPr sz="1050">
                <a:solidFill>
                  <a:srgbClr val="1E293B"/>
                </a:solidFill>
              </a:rPr>
              <a:t> Secure image hosting for scanned lesion photos with tokenized HTTPS URLs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17866738541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01168"/>
            <a:ext cx="749807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DERMAVISION AI — 12-SLIDE POC PRESENTATION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Patient App Workflow &amp;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51560"/>
            <a:ext cx="749807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Step 1: Authentication:</a:t>
            </a:r>
            <a:r>
              <a:rPr sz="1050">
                <a:solidFill>
                  <a:srgbClr val="1E293B"/>
                </a:solidFill>
              </a:rPr>
              <a:t> Patient signs in via Google Sign-In or Email/Password -&gt; AuthContext initializes unique Firebase UID.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Step 2: Skin Scanner Page:</a:t>
            </a:r>
            <a:r>
              <a:rPr sz="1050">
                <a:solidFill>
                  <a:srgbClr val="1E293B"/>
                </a:solidFill>
              </a:rPr>
              <a:t> Patient opens Scanner (/scanner) -&gt; Uploads image or captures photo using smartphone camera.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Step 3: OpenCV Pre-Check &amp; AI Scan:</a:t>
            </a:r>
            <a:r>
              <a:rPr sz="1050">
                <a:solidFill>
                  <a:srgbClr val="1E293B"/>
                </a:solidFill>
              </a:rPr>
              <a:t> OpenCV validates quality -&gt; FastAPI executes PyTorch ResNet50 inference in &lt; 250ms.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Step 4: Immediate Result &amp; Risk Badge:</a:t>
            </a:r>
            <a:r>
              <a:rPr sz="1050">
                <a:solidFill>
                  <a:srgbClr val="1E293B"/>
                </a:solidFill>
              </a:rPr>
              <a:t> Displays top class prediction, confidence score (94.2%), and risk badge (Low, Moderate, High, Critical).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Step 5: Diagnostic Report &amp; History:</a:t>
            </a:r>
            <a:r>
              <a:rPr sz="1050">
                <a:solidFill>
                  <a:srgbClr val="1E293B"/>
                </a:solidFill>
              </a:rPr>
              <a:t> Generates tri-lingual report -&gt; Saves record to Firestore (users/{uid}/scans) for historical access.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Step 6: Doctor Consultation Booking:</a:t>
            </a:r>
            <a:r>
              <a:rPr sz="1050">
                <a:solidFill>
                  <a:srgbClr val="1E293B"/>
                </a:solidFill>
              </a:rPr>
              <a:t> Patient clicks 'Consult Doctor' -&gt; Creates consultation record for specialist 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17866738541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01168"/>
            <a:ext cx="749807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DERMAVISION AI — 12-SLIDE POC PRESENTATION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Tri-Lingual Diagnostic Report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51560"/>
            <a:ext cx="749807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59669"/>
                </a:solidFill>
              </a:rPr>
              <a:t>• Disease-Specific Content:</a:t>
            </a:r>
            <a:r>
              <a:rPr sz="1050">
                <a:solidFill>
                  <a:srgbClr val="1E293B"/>
                </a:solidFill>
              </a:rPr>
              <a:t> Dynamically loads clinical overview, key symptoms, risk causes, precautions, and doctor referral guidance based on top AI prediction.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59669"/>
                </a:solidFill>
              </a:rPr>
              <a:t>• Tri-Lingual System:</a:t>
            </a:r>
            <a:r>
              <a:rPr sz="1050">
                <a:solidFill>
                  <a:srgbClr val="1E293B"/>
                </a:solidFill>
              </a:rPr>
              <a:t> Full multi-language localization supporting English (en), Tamil (ta), and Hindi (hi).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59669"/>
                </a:solidFill>
              </a:rPr>
              <a:t>• Reactive Zero-Reload Translation:</a:t>
            </a:r>
            <a:r>
              <a:rPr sz="1050">
                <a:solidFill>
                  <a:srgbClr val="1E293B"/>
                </a:solidFill>
              </a:rPr>
              <a:t> Switching language from header selector (🌐) translates active AI reports and UI text instantly without page refresh.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59669"/>
                </a:solidFill>
              </a:rPr>
              <a:t>• Risk Color Stratification:</a:t>
            </a:r>
            <a:r>
              <a:rPr sz="1050">
                <a:solidFill>
                  <a:srgbClr val="1E293B"/>
                </a:solidFill>
              </a:rPr>
              <a:t> Color-coded risk indicators (Critical Risk = Rose, High Risk = Amber, Moderate = Cyan, Low Risk = Emerald).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59669"/>
                </a:solidFill>
              </a:rPr>
              <a:t>• PDF Report Export:</a:t>
            </a:r>
            <a:r>
              <a:rPr sz="1050">
                <a:solidFill>
                  <a:srgbClr val="1E293B"/>
                </a:solidFill>
              </a:rPr>
              <a:t> Users can download print-formatted PDF diagnostic reports styled in their selected language.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17866738541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01168"/>
            <a:ext cx="749807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DERMAVISION AI — 12-SLIDE POC PRESENTATION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Firebase Cloud Architecture &amp; Data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51560"/>
            <a:ext cx="749807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</a:rPr>
              <a:t>Firebase Authentication:</a:t>
            </a:r>
            <a:r>
              <a:rPr sz="1050">
                <a:solidFill>
                  <a:srgbClr val="1E293B"/>
                </a:solidFill>
              </a:rPr>
              <a:t> Manages user credentials with OAuth 2.0 Google Sign-In &amp; Email/Password. Enforces UID-based security rules.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</a:rPr>
              <a:t>Cloud Firestore Database:</a:t>
            </a:r>
            <a:r>
              <a:rPr sz="1050">
                <a:solidFill>
                  <a:srgbClr val="1E293B"/>
                </a:solidFill>
              </a:rPr>
              <a:t> NoSQL hierarchical document collection architecture: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</a:rPr>
              <a:t>   - users/{userId}:</a:t>
            </a:r>
            <a:r>
              <a:rPr sz="1050">
                <a:solidFill>
                  <a:srgbClr val="1E293B"/>
                </a:solidFill>
              </a:rPr>
              <a:t> Patient profile data &amp; language preferences.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</a:rPr>
              <a:t>   - users/{userId}/scans/{scanId}:</a:t>
            </a:r>
            <a:r>
              <a:rPr sz="1050">
                <a:solidFill>
                  <a:srgbClr val="1E293B"/>
                </a:solidFill>
              </a:rPr>
              <a:t> Saved AI scan reports &amp; historical predictions.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</a:rPr>
              <a:t>   - consultations/{id}:</a:t>
            </a:r>
            <a:r>
              <a:rPr sz="1050">
                <a:solidFill>
                  <a:srgbClr val="1E293B"/>
                </a:solidFill>
              </a:rPr>
              <a:t> Consultation records, doctor diagnosis, and digital prescriptions (Rx:).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</a:rPr>
              <a:t>   - notifications/{id}:</a:t>
            </a:r>
            <a:r>
              <a:rPr sz="1050">
                <a:solidFill>
                  <a:srgbClr val="1E293B"/>
                </a:solidFill>
              </a:rPr>
              <a:t> Real-time patient invitation banners (restricted by patientUid rule).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</a:rPr>
              <a:t>Firebase Cloud Storage:</a:t>
            </a:r>
            <a:r>
              <a:rPr sz="1050">
                <a:solidFill>
                  <a:srgbClr val="1E293B"/>
                </a:solidFill>
              </a:rPr>
              <a:t> Hosts uploaded skin lesion images securely with tokenized HTTPS download URLs.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17866738541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01168"/>
            <a:ext cx="749807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DERMAVISION AI — 12-SLIDE POC PRESENTATION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Doctor Portal &amp; Google Meet Tele-Health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51560"/>
            <a:ext cx="749807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EA5E9"/>
                </a:solidFill>
              </a:rPr>
              <a:t>• Separated Task Queues:</a:t>
            </a:r>
            <a:r>
              <a:rPr sz="1050">
                <a:solidFill>
                  <a:srgbClr val="1E293B"/>
                </a:solidFill>
              </a:rPr>
              <a:t> Doctor Dashboard separates consultation queue into Pending Tasks (awaiting review) and Completed Tasks.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EA5E9"/>
                </a:solidFill>
              </a:rPr>
              <a:t>• Structured Clinical Report Card:</a:t>
            </a:r>
            <a:r>
              <a:rPr sz="1050">
                <a:solidFill>
                  <a:srgbClr val="1E293B"/>
                </a:solidFill>
              </a:rPr>
              <a:t> Displays patient scan specimen, AI confidence score, symptoms note, and clinical telemetry.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EA5E9"/>
                </a:solidFill>
              </a:rPr>
              <a:t>• Digital Prescription Issuing:</a:t>
            </a:r>
            <a:r>
              <a:rPr sz="1050">
                <a:solidFill>
                  <a:srgbClr val="1E293B"/>
                </a:solidFill>
              </a:rPr>
              <a:t> Doctors write official clinical diagnosis and prescription instructions (Rx:), saved to Firestore.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EA5E9"/>
                </a:solidFill>
              </a:rPr>
              <a:t>• Google Meet Video Call:</a:t>
            </a:r>
            <a:r>
              <a:rPr sz="1050">
                <a:solidFill>
                  <a:srgbClr val="1E293B"/>
                </a:solidFill>
              </a:rPr>
              <a:t> Doctor clicks 'Launch Google Meet' -&gt; Starts call and sends real-time meeting link to target patient.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EA5E9"/>
                </a:solidFill>
              </a:rPr>
              <a:t>• Targeted Patient Notifications:</a:t>
            </a:r>
            <a:r>
              <a:rPr sz="1050">
                <a:solidFill>
                  <a:srgbClr val="1E293B"/>
                </a:solidFill>
              </a:rPr>
              <a:t> Real-time Firestore snapshot listener triggers a floating banner ('🎥 Doctor Launched Google Meet Call!') on patient screen.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EA5E9"/>
                </a:solidFill>
              </a:rPr>
              <a:t>• Three Dots Case Deletion:</a:t>
            </a:r>
            <a:r>
              <a:rPr sz="1050">
                <a:solidFill>
                  <a:srgbClr val="1E293B"/>
                </a:solidFill>
              </a:rPr>
              <a:t> Doctors can clean up old consultation cases via 3-dots case menu ('Delete Case').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17866738541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01168"/>
            <a:ext cx="749807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DERMAVISION AI — 12-SLIDE POC PRESENTATION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Expected Outcomes &amp; Working Implementation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51560"/>
            <a:ext cx="749807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59669"/>
                </a:solidFill>
              </a:rPr>
              <a:t>✔ Accelerated Triage &amp; Screening:</a:t>
            </a:r>
            <a:r>
              <a:rPr sz="1050">
                <a:solidFill>
                  <a:srgbClr val="1E293B"/>
                </a:solidFill>
              </a:rPr>
              <a:t> Sub-second preliminary skin lesion classification reduces patient panic and encourages early care.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59669"/>
                </a:solidFill>
              </a:rPr>
              <a:t>✔ Risk Stratification Awareness:</a:t>
            </a:r>
            <a:r>
              <a:rPr sz="1050">
                <a:solidFill>
                  <a:srgbClr val="1E293B"/>
                </a:solidFill>
              </a:rPr>
              <a:t> Flags high-risk malignant lesions (Melanoma, Actinic Keratosis) requiring urgent clinical attention.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59669"/>
                </a:solidFill>
              </a:rPr>
              <a:t>✔ Enhanced Multi-Lingual Access:</a:t>
            </a:r>
            <a:r>
              <a:rPr sz="1050">
                <a:solidFill>
                  <a:srgbClr val="1E293B"/>
                </a:solidFill>
              </a:rPr>
              <a:t> Tri-lingual support (English, Tamil, Hindi) ensures accessibility across regional backgrounds.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59669"/>
                </a:solidFill>
              </a:rPr>
              <a:t>✔ Implemented Features Verified:</a:t>
            </a:r>
            <a:r>
              <a:rPr sz="1050">
                <a:solidFill>
                  <a:srgbClr val="1E293B"/>
                </a:solidFill>
              </a:rPr>
              <a:t> PyTorch ResNet50 engine, OpenCV quality checker, React Patient SPA, Doctor Workspace, Firebase Firestore/Storage fully functional.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E11D48"/>
                </a:solidFill>
              </a:rPr>
              <a:t>⚠️ Non-Diagnostic Disclaimer:</a:t>
            </a:r>
            <a:r>
              <a:rPr sz="1050">
                <a:solidFill>
                  <a:srgbClr val="1E293B"/>
                </a:solidFill>
              </a:rPr>
              <a:t> System is designed as an AI screening assistance decision-support tool and does not replace certified dermatologists.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17866738541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01168"/>
            <a:ext cx="749807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EA5E9"/>
                </a:solidFill>
              </a:defRPr>
            </a:pPr>
            <a:r>
              <a:t>DERMAVISION AI — 12-SLIDE POC PRESENTATION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Limitations, Future Scope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51560"/>
            <a:ext cx="749807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11D48"/>
                </a:solidFill>
              </a:defRPr>
            </a:pPr>
            <a:r>
              <a:rPr dirty="0"/>
              <a:t>Limitations: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rPr dirty="0"/>
              <a:t>• Model scope bound to 10 clinical target classes; CPU inference latency ~100-200ms; screening assistance bounds.</a:t>
            </a:r>
          </a:p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</a:defRPr>
            </a:pPr>
            <a:r>
              <a:rPr dirty="0"/>
              <a:t>Future Scope &amp; Enhancements: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rPr dirty="0"/>
              <a:t>➔ Grad-CAM Explainable AI visual heatmaps, WebRTC native video calls, expanded Fitzpatrick skin tone datasets.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rPr dirty="0"/>
              <a:t>Conclusion:</a:t>
            </a:r>
          </a:p>
          <a:p>
            <a:pPr>
              <a:spcAft>
                <a:spcPts val="800"/>
              </a:spcAft>
              <a:defRPr sz="1000" b="1">
                <a:solidFill>
                  <a:srgbClr val="0EA5E9"/>
                </a:solidFill>
              </a:defRPr>
            </a:pPr>
            <a:r>
              <a:rPr dirty="0" err="1"/>
              <a:t>DermaVision</a:t>
            </a:r>
            <a:r>
              <a:rPr dirty="0"/>
              <a:t> AI unites </a:t>
            </a:r>
            <a:r>
              <a:rPr dirty="0" err="1"/>
              <a:t>PyTorch</a:t>
            </a:r>
            <a:r>
              <a:rPr dirty="0"/>
              <a:t> Deep Learning + OpenCV Quality Defense + Tri-Lingual Reporting + Firebase Infrastructure + Doctor Tele-Health, making preliminary skin screening accessible, intelligent, and safely connected to medical professionals.</a:t>
            </a:r>
          </a:p>
          <a:p>
            <a:pPr algn="ctr">
              <a:defRPr sz="1600" b="1">
                <a:solidFill>
                  <a:srgbClr val="0EA5E9"/>
                </a:solidFill>
              </a:defRPr>
            </a:pPr>
            <a:r>
              <a:rPr dirty="0"/>
              <a:t>Thank You!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1755</Words>
  <Application>Microsoft Office PowerPoint</Application>
  <PresentationFormat>On-screen Show (16:9)</PresentationFormat>
  <Paragraphs>118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Yogesh M</cp:lastModifiedBy>
  <cp:revision>4</cp:revision>
  <dcterms:created xsi:type="dcterms:W3CDTF">2013-01-27T09:14:16Z</dcterms:created>
  <dcterms:modified xsi:type="dcterms:W3CDTF">2026-08-14T04:48:04Z</dcterms:modified>
  <cp:category/>
</cp:coreProperties>
</file>